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3" r:id="rId3"/>
    <p:sldId id="265" r:id="rId4"/>
    <p:sldId id="257" r:id="rId5"/>
    <p:sldId id="269" r:id="rId6"/>
    <p:sldId id="262" r:id="rId7"/>
    <p:sldId id="263" r:id="rId8"/>
    <p:sldId id="275" r:id="rId9"/>
    <p:sldId id="274" r:id="rId10"/>
    <p:sldId id="267" r:id="rId11"/>
    <p:sldId id="271" r:id="rId12"/>
    <p:sldId id="272" r:id="rId13"/>
    <p:sldId id="260" r:id="rId14"/>
    <p:sldId id="258" r:id="rId15"/>
    <p:sldId id="261" r:id="rId16"/>
    <p:sldId id="268" r:id="rId17"/>
    <p:sldId id="276"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55"/>
    <p:restoredTop sz="94608"/>
  </p:normalViewPr>
  <p:slideViewPr>
    <p:cSldViewPr snapToGrid="0">
      <p:cViewPr varScale="1">
        <p:scale>
          <a:sx n="90" d="100"/>
          <a:sy n="90" d="100"/>
        </p:scale>
        <p:origin x="23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DE157A-1EAD-4F38-B1BB-0635C7866DA8}"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AB67D55D-353D-4F8D-A0D7-2B494DE16CCC}">
      <dgm:prSet/>
      <dgm:spPr/>
      <dgm:t>
        <a:bodyPr/>
        <a:lstStyle/>
        <a:p>
          <a:r>
            <a:rPr lang="en-US"/>
            <a:t>Access Deep Review</a:t>
          </a:r>
        </a:p>
      </dgm:t>
    </dgm:pt>
    <dgm:pt modelId="{652760C8-06C9-4D03-B733-4F287BBBA0F1}" type="parTrans" cxnId="{001D9182-79E2-4D32-9235-671997501084}">
      <dgm:prSet/>
      <dgm:spPr/>
      <dgm:t>
        <a:bodyPr/>
        <a:lstStyle/>
        <a:p>
          <a:endParaRPr lang="en-US"/>
        </a:p>
      </dgm:t>
    </dgm:pt>
    <dgm:pt modelId="{FB9BEC7D-0837-4AE1-A9AF-DA2D6DC7C1E5}" type="sibTrans" cxnId="{001D9182-79E2-4D32-9235-671997501084}">
      <dgm:prSet/>
      <dgm:spPr/>
      <dgm:t>
        <a:bodyPr/>
        <a:lstStyle/>
        <a:p>
          <a:endParaRPr lang="en-US"/>
        </a:p>
      </dgm:t>
    </dgm:pt>
    <dgm:pt modelId="{573F81FD-E160-4E08-863E-4225EDEEABC3}">
      <dgm:prSet/>
      <dgm:spPr/>
      <dgm:t>
        <a:bodyPr/>
        <a:lstStyle/>
        <a:p>
          <a:r>
            <a:rPr lang="en-US"/>
            <a:t>Generate Deep Literature Analysis</a:t>
          </a:r>
        </a:p>
      </dgm:t>
    </dgm:pt>
    <dgm:pt modelId="{7C956BC8-6A89-47D3-A3CA-D1E878A228AF}" type="parTrans" cxnId="{DDB80F82-E067-4C6F-8636-208335050467}">
      <dgm:prSet/>
      <dgm:spPr/>
      <dgm:t>
        <a:bodyPr/>
        <a:lstStyle/>
        <a:p>
          <a:endParaRPr lang="en-US"/>
        </a:p>
      </dgm:t>
    </dgm:pt>
    <dgm:pt modelId="{7E0C6B3B-DB0B-4ACD-BDC6-4063E9E7B22A}" type="sibTrans" cxnId="{DDB80F82-E067-4C6F-8636-208335050467}">
      <dgm:prSet/>
      <dgm:spPr/>
      <dgm:t>
        <a:bodyPr/>
        <a:lstStyle/>
        <a:p>
          <a:endParaRPr lang="en-US"/>
        </a:p>
      </dgm:t>
    </dgm:pt>
    <dgm:pt modelId="{309E6DAB-856C-43A1-9FE9-50A23341DD2F}">
      <dgm:prSet/>
      <dgm:spPr/>
      <dgm:t>
        <a:bodyPr/>
        <a:lstStyle/>
        <a:p>
          <a:r>
            <a:rPr lang="en-US"/>
            <a:t>Interact with the Analysis</a:t>
          </a:r>
        </a:p>
      </dgm:t>
    </dgm:pt>
    <dgm:pt modelId="{75BCA50A-D704-4749-B463-56F1B377851A}" type="parTrans" cxnId="{2AD0A55B-F5AC-4065-B8C9-D5F9E68DB0B0}">
      <dgm:prSet/>
      <dgm:spPr/>
      <dgm:t>
        <a:bodyPr/>
        <a:lstStyle/>
        <a:p>
          <a:endParaRPr lang="en-US"/>
        </a:p>
      </dgm:t>
    </dgm:pt>
    <dgm:pt modelId="{CB9D7233-D684-444B-9A68-9960CF1DF84F}" type="sibTrans" cxnId="{2AD0A55B-F5AC-4065-B8C9-D5F9E68DB0B0}">
      <dgm:prSet/>
      <dgm:spPr/>
      <dgm:t>
        <a:bodyPr/>
        <a:lstStyle/>
        <a:p>
          <a:endParaRPr lang="en-US"/>
        </a:p>
      </dgm:t>
    </dgm:pt>
    <dgm:pt modelId="{A5F72D28-634F-43A9-BA7A-CFF0430913EB}">
      <dgm:prSet/>
      <dgm:spPr/>
      <dgm:t>
        <a:bodyPr/>
        <a:lstStyle/>
        <a:p>
          <a:r>
            <a:rPr lang="en-US"/>
            <a:t>Customize and Refine</a:t>
          </a:r>
        </a:p>
      </dgm:t>
    </dgm:pt>
    <dgm:pt modelId="{1BA13417-AB0B-4253-BF2E-78BD2C617419}" type="parTrans" cxnId="{F968E1F1-3C63-402B-A845-1131764D9EE7}">
      <dgm:prSet/>
      <dgm:spPr/>
      <dgm:t>
        <a:bodyPr/>
        <a:lstStyle/>
        <a:p>
          <a:endParaRPr lang="en-US"/>
        </a:p>
      </dgm:t>
    </dgm:pt>
    <dgm:pt modelId="{F49530D5-7F3E-4FC2-8011-106DFE59E4A1}" type="sibTrans" cxnId="{F968E1F1-3C63-402B-A845-1131764D9EE7}">
      <dgm:prSet/>
      <dgm:spPr/>
      <dgm:t>
        <a:bodyPr/>
        <a:lstStyle/>
        <a:p>
          <a:endParaRPr lang="en-US"/>
        </a:p>
      </dgm:t>
    </dgm:pt>
    <dgm:pt modelId="{26C8A7BC-595E-B140-A6D8-E74BE51FC0E2}" type="pres">
      <dgm:prSet presAssocID="{A7DE157A-1EAD-4F38-B1BB-0635C7866DA8}" presName="matrix" presStyleCnt="0">
        <dgm:presLayoutVars>
          <dgm:chMax val="1"/>
          <dgm:dir/>
          <dgm:resizeHandles val="exact"/>
        </dgm:presLayoutVars>
      </dgm:prSet>
      <dgm:spPr/>
    </dgm:pt>
    <dgm:pt modelId="{3C9C4704-CDA9-244D-A1EA-8199A0270BF9}" type="pres">
      <dgm:prSet presAssocID="{A7DE157A-1EAD-4F38-B1BB-0635C7866DA8}" presName="diamond" presStyleLbl="bgShp" presStyleIdx="0" presStyleCnt="1"/>
      <dgm:spPr/>
    </dgm:pt>
    <dgm:pt modelId="{A98FCF26-3520-C747-9D39-0828F0736681}" type="pres">
      <dgm:prSet presAssocID="{A7DE157A-1EAD-4F38-B1BB-0635C7866DA8}" presName="quad1" presStyleLbl="node1" presStyleIdx="0" presStyleCnt="4">
        <dgm:presLayoutVars>
          <dgm:chMax val="0"/>
          <dgm:chPref val="0"/>
          <dgm:bulletEnabled val="1"/>
        </dgm:presLayoutVars>
      </dgm:prSet>
      <dgm:spPr/>
    </dgm:pt>
    <dgm:pt modelId="{77C178D9-511E-6244-A418-BCC1EA3AE6AA}" type="pres">
      <dgm:prSet presAssocID="{A7DE157A-1EAD-4F38-B1BB-0635C7866DA8}" presName="quad2" presStyleLbl="node1" presStyleIdx="1" presStyleCnt="4">
        <dgm:presLayoutVars>
          <dgm:chMax val="0"/>
          <dgm:chPref val="0"/>
          <dgm:bulletEnabled val="1"/>
        </dgm:presLayoutVars>
      </dgm:prSet>
      <dgm:spPr/>
    </dgm:pt>
    <dgm:pt modelId="{3D8FDBD0-F4F3-534B-8244-AA8B1A579054}" type="pres">
      <dgm:prSet presAssocID="{A7DE157A-1EAD-4F38-B1BB-0635C7866DA8}" presName="quad3" presStyleLbl="node1" presStyleIdx="2" presStyleCnt="4">
        <dgm:presLayoutVars>
          <dgm:chMax val="0"/>
          <dgm:chPref val="0"/>
          <dgm:bulletEnabled val="1"/>
        </dgm:presLayoutVars>
      </dgm:prSet>
      <dgm:spPr/>
    </dgm:pt>
    <dgm:pt modelId="{BDC9349F-F046-E344-9FC7-3A0215E93944}" type="pres">
      <dgm:prSet presAssocID="{A7DE157A-1EAD-4F38-B1BB-0635C7866DA8}" presName="quad4" presStyleLbl="node1" presStyleIdx="3" presStyleCnt="4">
        <dgm:presLayoutVars>
          <dgm:chMax val="0"/>
          <dgm:chPref val="0"/>
          <dgm:bulletEnabled val="1"/>
        </dgm:presLayoutVars>
      </dgm:prSet>
      <dgm:spPr/>
    </dgm:pt>
  </dgm:ptLst>
  <dgm:cxnLst>
    <dgm:cxn modelId="{2AD0A55B-F5AC-4065-B8C9-D5F9E68DB0B0}" srcId="{A7DE157A-1EAD-4F38-B1BB-0635C7866DA8}" destId="{309E6DAB-856C-43A1-9FE9-50A23341DD2F}" srcOrd="2" destOrd="0" parTransId="{75BCA50A-D704-4749-B463-56F1B377851A}" sibTransId="{CB9D7233-D684-444B-9A68-9960CF1DF84F}"/>
    <dgm:cxn modelId="{E9A14A63-2E48-6240-9CC6-6F2D120CDC2B}" type="presOf" srcId="{A7DE157A-1EAD-4F38-B1BB-0635C7866DA8}" destId="{26C8A7BC-595E-B140-A6D8-E74BE51FC0E2}" srcOrd="0" destOrd="0" presId="urn:microsoft.com/office/officeart/2005/8/layout/matrix3"/>
    <dgm:cxn modelId="{47538D6F-C1D7-F441-BE0F-3EA99F47305F}" type="presOf" srcId="{309E6DAB-856C-43A1-9FE9-50A23341DD2F}" destId="{3D8FDBD0-F4F3-534B-8244-AA8B1A579054}" srcOrd="0" destOrd="0" presId="urn:microsoft.com/office/officeart/2005/8/layout/matrix3"/>
    <dgm:cxn modelId="{1DD95179-62EA-454A-84AF-6FD3343B50AA}" type="presOf" srcId="{A5F72D28-634F-43A9-BA7A-CFF0430913EB}" destId="{BDC9349F-F046-E344-9FC7-3A0215E93944}" srcOrd="0" destOrd="0" presId="urn:microsoft.com/office/officeart/2005/8/layout/matrix3"/>
    <dgm:cxn modelId="{DDB80F82-E067-4C6F-8636-208335050467}" srcId="{A7DE157A-1EAD-4F38-B1BB-0635C7866DA8}" destId="{573F81FD-E160-4E08-863E-4225EDEEABC3}" srcOrd="1" destOrd="0" parTransId="{7C956BC8-6A89-47D3-A3CA-D1E878A228AF}" sibTransId="{7E0C6B3B-DB0B-4ACD-BDC6-4063E9E7B22A}"/>
    <dgm:cxn modelId="{001D9182-79E2-4D32-9235-671997501084}" srcId="{A7DE157A-1EAD-4F38-B1BB-0635C7866DA8}" destId="{AB67D55D-353D-4F8D-A0D7-2B494DE16CCC}" srcOrd="0" destOrd="0" parTransId="{652760C8-06C9-4D03-B733-4F287BBBA0F1}" sibTransId="{FB9BEC7D-0837-4AE1-A9AF-DA2D6DC7C1E5}"/>
    <dgm:cxn modelId="{D863319B-B45D-A645-AA1F-9C77C3CBB02C}" type="presOf" srcId="{AB67D55D-353D-4F8D-A0D7-2B494DE16CCC}" destId="{A98FCF26-3520-C747-9D39-0828F0736681}" srcOrd="0" destOrd="0" presId="urn:microsoft.com/office/officeart/2005/8/layout/matrix3"/>
    <dgm:cxn modelId="{F968E1F1-3C63-402B-A845-1131764D9EE7}" srcId="{A7DE157A-1EAD-4F38-B1BB-0635C7866DA8}" destId="{A5F72D28-634F-43A9-BA7A-CFF0430913EB}" srcOrd="3" destOrd="0" parTransId="{1BA13417-AB0B-4253-BF2E-78BD2C617419}" sibTransId="{F49530D5-7F3E-4FC2-8011-106DFE59E4A1}"/>
    <dgm:cxn modelId="{211F8CF2-9FAC-0B4D-9FEB-2CF9EA830F48}" type="presOf" srcId="{573F81FD-E160-4E08-863E-4225EDEEABC3}" destId="{77C178D9-511E-6244-A418-BCC1EA3AE6AA}" srcOrd="0" destOrd="0" presId="urn:microsoft.com/office/officeart/2005/8/layout/matrix3"/>
    <dgm:cxn modelId="{891101F7-42D9-024E-BACE-A7B76390E1C4}" type="presParOf" srcId="{26C8A7BC-595E-B140-A6D8-E74BE51FC0E2}" destId="{3C9C4704-CDA9-244D-A1EA-8199A0270BF9}" srcOrd="0" destOrd="0" presId="urn:microsoft.com/office/officeart/2005/8/layout/matrix3"/>
    <dgm:cxn modelId="{14C604D1-BFA4-7C41-A5E5-250FDC8350A2}" type="presParOf" srcId="{26C8A7BC-595E-B140-A6D8-E74BE51FC0E2}" destId="{A98FCF26-3520-C747-9D39-0828F0736681}" srcOrd="1" destOrd="0" presId="urn:microsoft.com/office/officeart/2005/8/layout/matrix3"/>
    <dgm:cxn modelId="{5B6ADB93-D278-C64E-9604-9C209F75FD41}" type="presParOf" srcId="{26C8A7BC-595E-B140-A6D8-E74BE51FC0E2}" destId="{77C178D9-511E-6244-A418-BCC1EA3AE6AA}" srcOrd="2" destOrd="0" presId="urn:microsoft.com/office/officeart/2005/8/layout/matrix3"/>
    <dgm:cxn modelId="{38B6588A-84C3-6640-8AAF-0C72AF161496}" type="presParOf" srcId="{26C8A7BC-595E-B140-A6D8-E74BE51FC0E2}" destId="{3D8FDBD0-F4F3-534B-8244-AA8B1A579054}" srcOrd="3" destOrd="0" presId="urn:microsoft.com/office/officeart/2005/8/layout/matrix3"/>
    <dgm:cxn modelId="{C875ACA8-4777-944A-8004-8C8925C0C1A3}" type="presParOf" srcId="{26C8A7BC-595E-B140-A6D8-E74BE51FC0E2}" destId="{BDC9349F-F046-E344-9FC7-3A0215E93944}" srcOrd="4" destOrd="0" presId="urn:microsoft.com/office/officeart/2005/8/layout/matrix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9C4704-CDA9-244D-A1EA-8199A0270BF9}">
      <dsp:nvSpPr>
        <dsp:cNvPr id="0" name=""/>
        <dsp:cNvSpPr/>
      </dsp:nvSpPr>
      <dsp:spPr>
        <a:xfrm>
          <a:off x="783937" y="0"/>
          <a:ext cx="3817942" cy="381794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8FCF26-3520-C747-9D39-0828F0736681}">
      <dsp:nvSpPr>
        <dsp:cNvPr id="0" name=""/>
        <dsp:cNvSpPr/>
      </dsp:nvSpPr>
      <dsp:spPr>
        <a:xfrm>
          <a:off x="1146641" y="362704"/>
          <a:ext cx="1488997" cy="14889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Access Deep Review</a:t>
          </a:r>
        </a:p>
      </dsp:txBody>
      <dsp:txXfrm>
        <a:off x="1219328" y="435391"/>
        <a:ext cx="1343623" cy="1343623"/>
      </dsp:txXfrm>
    </dsp:sp>
    <dsp:sp modelId="{77C178D9-511E-6244-A418-BCC1EA3AE6AA}">
      <dsp:nvSpPr>
        <dsp:cNvPr id="0" name=""/>
        <dsp:cNvSpPr/>
      </dsp:nvSpPr>
      <dsp:spPr>
        <a:xfrm>
          <a:off x="2750177" y="362704"/>
          <a:ext cx="1488997" cy="14889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Generate Deep Literature Analysis</a:t>
          </a:r>
        </a:p>
      </dsp:txBody>
      <dsp:txXfrm>
        <a:off x="2822864" y="435391"/>
        <a:ext cx="1343623" cy="1343623"/>
      </dsp:txXfrm>
    </dsp:sp>
    <dsp:sp modelId="{3D8FDBD0-F4F3-534B-8244-AA8B1A579054}">
      <dsp:nvSpPr>
        <dsp:cNvPr id="0" name=""/>
        <dsp:cNvSpPr/>
      </dsp:nvSpPr>
      <dsp:spPr>
        <a:xfrm>
          <a:off x="1146641" y="1966240"/>
          <a:ext cx="1488997" cy="14889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Interact with the Analysis</a:t>
          </a:r>
        </a:p>
      </dsp:txBody>
      <dsp:txXfrm>
        <a:off x="1219328" y="2038927"/>
        <a:ext cx="1343623" cy="1343623"/>
      </dsp:txXfrm>
    </dsp:sp>
    <dsp:sp modelId="{BDC9349F-F046-E344-9FC7-3A0215E93944}">
      <dsp:nvSpPr>
        <dsp:cNvPr id="0" name=""/>
        <dsp:cNvSpPr/>
      </dsp:nvSpPr>
      <dsp:spPr>
        <a:xfrm>
          <a:off x="2750177" y="1966240"/>
          <a:ext cx="1488997" cy="14889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Customize and Refine</a:t>
          </a:r>
        </a:p>
      </dsp:txBody>
      <dsp:txXfrm>
        <a:off x="2822864" y="2038927"/>
        <a:ext cx="1343623" cy="1343623"/>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7D590-D39A-7B4F-A563-988CC2064603}" type="datetimeFigureOut">
              <a:rPr lang="en-US" smtClean="0"/>
              <a:t>6/17/25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B5DF6-88E9-3F44-B39F-DBDF250DF56E}" type="slidenum">
              <a:rPr lang="en-US" smtClean="0"/>
              <a:t>‹#›</a:t>
            </a:fld>
            <a:endParaRPr lang="en-US"/>
          </a:p>
        </p:txBody>
      </p:sp>
    </p:spTree>
    <p:extLst>
      <p:ext uri="{BB962C8B-B14F-4D97-AF65-F5344CB8AC3E}">
        <p14:creationId xmlns:p14="http://schemas.microsoft.com/office/powerpoint/2010/main" val="3642546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7B5DF6-88E9-3F44-B39F-DBDF250DF56E}" type="slidenum">
              <a:rPr lang="en-US" smtClean="0"/>
              <a:t>2</a:t>
            </a:fld>
            <a:endParaRPr lang="en-US"/>
          </a:p>
        </p:txBody>
      </p:sp>
    </p:spTree>
    <p:extLst>
      <p:ext uri="{BB962C8B-B14F-4D97-AF65-F5344CB8AC3E}">
        <p14:creationId xmlns:p14="http://schemas.microsoft.com/office/powerpoint/2010/main" val="947164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www.instituteofaistudies.com</a:t>
            </a:r>
            <a:r>
              <a:rPr lang="en-US" dirty="0"/>
              <a:t>/insights/5-use-cases-for-chatgpt-deep-research </a:t>
            </a:r>
          </a:p>
        </p:txBody>
      </p:sp>
      <p:sp>
        <p:nvSpPr>
          <p:cNvPr id="4" name="Slide Number Placeholder 3"/>
          <p:cNvSpPr>
            <a:spLocks noGrp="1"/>
          </p:cNvSpPr>
          <p:nvPr>
            <p:ph type="sldNum" sz="quarter" idx="5"/>
          </p:nvPr>
        </p:nvSpPr>
        <p:spPr/>
        <p:txBody>
          <a:bodyPr/>
          <a:lstStyle/>
          <a:p>
            <a:fld id="{317B5DF6-88E9-3F44-B39F-DBDF250DF56E}" type="slidenum">
              <a:rPr lang="en-US" smtClean="0"/>
              <a:t>4</a:t>
            </a:fld>
            <a:endParaRPr lang="en-US"/>
          </a:p>
        </p:txBody>
      </p:sp>
    </p:spTree>
    <p:extLst>
      <p:ext uri="{BB962C8B-B14F-4D97-AF65-F5344CB8AC3E}">
        <p14:creationId xmlns:p14="http://schemas.microsoft.com/office/powerpoint/2010/main" val="2986193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7D5F-416F-E1BA-91AF-F6163AE26D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7962C5-5C90-C3F4-A6C1-43796A676A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3D1A2D-2723-0965-CE33-30103338B69F}"/>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3C0EEFDF-5AB9-E5D0-94C1-4ED191EA02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1FBE7D-3920-160A-ACC4-9E0CDFFD60D8}"/>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2863889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8E0F-DCCB-141A-C4BA-2D2AEB0595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FCE93-CA11-CE3F-1936-A6E0CBF12C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720B7-8CD3-5A69-4E2C-A4B744592B69}"/>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B5593A19-4AE5-D742-4163-CCA370C28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53757-0BC9-0CF2-3123-EC42550C305B}"/>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566473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790E-18BA-6D06-9BCE-7D85BA4751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5E34CD-CAEA-C241-7B1A-2212D0F261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E20C14-FC44-5DDF-F2E7-BD3F361AF8D2}"/>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AB7411C1-54E3-6A3C-B87E-3197EAB2AD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AEC387-8F3C-CE13-C92E-B99DA305F61A}"/>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2624084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B7E-CAFB-1C88-E282-C1422A9377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8C6FD7-6B9A-DF7C-59A2-9208B79EFE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2B5718-5B64-B2DE-B547-EFAA307465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752802-2EF8-08B7-6D58-01F4C9EE7FCD}"/>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6" name="Footer Placeholder 5">
            <a:extLst>
              <a:ext uri="{FF2B5EF4-FFF2-40B4-BE49-F238E27FC236}">
                <a16:creationId xmlns:a16="http://schemas.microsoft.com/office/drawing/2014/main" id="{920F3DEA-13EE-E9E7-D3C9-A17BF6AAE7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E8C87-0DEC-D7AF-FFC5-6DDA7A08987E}"/>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809517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ADCDB-9487-1325-7FCB-911EB6FDA8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303EDD-AB11-E517-7766-7567144C5A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4C1FFA-1526-84D4-213B-8A58F5A13C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819DDE-8228-007A-A2DC-8E61A2CE00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56E47-785E-489B-340C-46AF6F70E3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094055-F3FA-9F30-7037-88798483987B}"/>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8" name="Footer Placeholder 7">
            <a:extLst>
              <a:ext uri="{FF2B5EF4-FFF2-40B4-BE49-F238E27FC236}">
                <a16:creationId xmlns:a16="http://schemas.microsoft.com/office/drawing/2014/main" id="{DDCD20A2-DEB2-4BE2-4E58-70ADD9574E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139D28-1D5C-1A87-8C6D-78EEB6026A84}"/>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265965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D59F-290B-87E6-BF87-51079492B1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BA09EA-0959-6BDE-5F07-583D0B399E69}"/>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4" name="Footer Placeholder 3">
            <a:extLst>
              <a:ext uri="{FF2B5EF4-FFF2-40B4-BE49-F238E27FC236}">
                <a16:creationId xmlns:a16="http://schemas.microsoft.com/office/drawing/2014/main" id="{36CDA7F1-727A-6921-4ED7-E5A625BD63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8B59FE-784D-BAFB-1292-30D08A445A87}"/>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360822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788B54-9817-92D1-063F-5100FD05E015}"/>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3" name="Footer Placeholder 2">
            <a:extLst>
              <a:ext uri="{FF2B5EF4-FFF2-40B4-BE49-F238E27FC236}">
                <a16:creationId xmlns:a16="http://schemas.microsoft.com/office/drawing/2014/main" id="{E784190F-9828-DE34-88F7-79A7E9CFA2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0D636-4AE7-4591-7BD8-5914C630841C}"/>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163375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B71F9-4452-2E43-269C-58525F7B0A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ABF228-E58D-7103-3026-A963D021AA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780458-FA03-E3AD-D802-3A883ED44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BDB67E-CFE5-22BD-5238-8072EB5F80D7}"/>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6" name="Footer Placeholder 5">
            <a:extLst>
              <a:ext uri="{FF2B5EF4-FFF2-40B4-BE49-F238E27FC236}">
                <a16:creationId xmlns:a16="http://schemas.microsoft.com/office/drawing/2014/main" id="{6862B5E5-76B8-D02A-2C72-C9C4A928B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C0EF7-B2F3-2E54-374D-4FAFCF519640}"/>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1141622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AFCAC-4E69-AE52-3DB5-E516F073E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A48704-C4CB-738B-ED7C-6998B9554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AABA72-517D-F9AC-4F8B-E0F2CD17DA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B67472-EC7C-AB0E-0806-766A71774270}"/>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6" name="Footer Placeholder 5">
            <a:extLst>
              <a:ext uri="{FF2B5EF4-FFF2-40B4-BE49-F238E27FC236}">
                <a16:creationId xmlns:a16="http://schemas.microsoft.com/office/drawing/2014/main" id="{1E54EC5C-FEB8-779B-DF44-A03BB58DC1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AB338D-61A6-1FD5-3E5E-9F547F5F5174}"/>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2674926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81A7-8803-FF97-D43A-26D01B2495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752296-C8A5-789D-ED85-110FB4C195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25C8C-1BF2-74FC-19ED-429752A732B1}"/>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14204E00-9967-09A1-DB1E-E7AB86413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E51E9-1F34-E58C-CA7F-C4328E039DB0}"/>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2747790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6B04D5-A0A2-916F-E827-A74775CA60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9D5576-A6B1-1E4A-B60C-CAB9AB5135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C3DFD7-2A8E-F250-B06E-62619EB5166B}"/>
              </a:ext>
            </a:extLst>
          </p:cNvPr>
          <p:cNvSpPr>
            <a:spLocks noGrp="1"/>
          </p:cNvSpPr>
          <p:nvPr>
            <p:ph type="dt" sz="half" idx="10"/>
          </p:nvPr>
        </p:nvSpPr>
        <p:spPr/>
        <p:txBody>
          <a:body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CB4445FC-527C-580D-D8DE-DF547C2E8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27F40-CE5E-FA3E-F54D-3DD0836B0DEA}"/>
              </a:ext>
            </a:extLst>
          </p:cNvPr>
          <p:cNvSpPr>
            <a:spLocks noGrp="1"/>
          </p:cNvSpPr>
          <p:nvPr>
            <p:ph type="sldNum" sz="quarter" idx="12"/>
          </p:nvPr>
        </p:nvSpPr>
        <p:spPr/>
        <p:txBody>
          <a:bodyPr/>
          <a:lstStyle/>
          <a:p>
            <a:fld id="{6B8D658D-59FC-0E4B-96AC-C8584D6B3124}" type="slidenum">
              <a:rPr lang="en-US" smtClean="0"/>
              <a:t>‹#›</a:t>
            </a:fld>
            <a:endParaRPr lang="en-US"/>
          </a:p>
        </p:txBody>
      </p:sp>
    </p:spTree>
    <p:extLst>
      <p:ext uri="{BB962C8B-B14F-4D97-AF65-F5344CB8AC3E}">
        <p14:creationId xmlns:p14="http://schemas.microsoft.com/office/powerpoint/2010/main" val="8664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8C34EE-7178-42D1-34EF-776CAF095C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C7DC29-980B-D172-E2BB-03EC7306E8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1B7DCD-D0A3-479D-7166-5D8B7EF17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7EDCE3-403F-C64E-B90A-033736B87F8A}" type="datetimeFigureOut">
              <a:rPr lang="en-US" smtClean="0"/>
              <a:t>6/17/25</a:t>
            </a:fld>
            <a:endParaRPr lang="en-US"/>
          </a:p>
        </p:txBody>
      </p:sp>
      <p:sp>
        <p:nvSpPr>
          <p:cNvPr id="5" name="Footer Placeholder 4">
            <a:extLst>
              <a:ext uri="{FF2B5EF4-FFF2-40B4-BE49-F238E27FC236}">
                <a16:creationId xmlns:a16="http://schemas.microsoft.com/office/drawing/2014/main" id="{3E7BD76C-9F32-0287-AEEC-5B28F81145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F9074D-35F1-6D70-C123-640AD8DEBA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8D658D-59FC-0E4B-96AC-C8584D6B3124}" type="slidenum">
              <a:rPr lang="en-US" smtClean="0"/>
              <a:t>‹#›</a:t>
            </a:fld>
            <a:endParaRPr lang="en-US"/>
          </a:p>
        </p:txBody>
      </p:sp>
    </p:spTree>
    <p:extLst>
      <p:ext uri="{BB962C8B-B14F-4D97-AF65-F5344CB8AC3E}">
        <p14:creationId xmlns:p14="http://schemas.microsoft.com/office/powerpoint/2010/main" val="598130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ultralytics.com/blog/the-role-of-deep-research-models-in-ai-advancements#:~:text=Deep%20Research%20models%20have%20the,that%20save%20time%20across%20industries." TargetMode="External"/><Relationship Id="rId1" Type="http://schemas.openxmlformats.org/officeDocument/2006/relationships/slideLayout" Target="../slideLayouts/slideLayout2.xml"/><Relationship Id="rId4" Type="http://schemas.openxmlformats.org/officeDocument/2006/relationships/hyperlink" Target="https://www.ultralytics.com/authors/abirami-vina"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Z_MHrIIIyx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www.datacamp.com/blog/o3-openai" TargetMode="External"/><Relationship Id="rId2" Type="http://schemas.openxmlformats.org/officeDocument/2006/relationships/hyperlink" Target="https://www.datacamp.com/blog/deep-research-openai"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openai.com/index/introducing-deep-research/"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orkspaceupdates.googleblog.com/2025/02/deep-research-available-for-google-workspace-in-gemini-advanced.html" TargetMode="External"/><Relationship Id="rId2" Type="http://schemas.openxmlformats.org/officeDocument/2006/relationships/hyperlink" Target="https://gemini.google/overview/deep-research/"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workspaceupdates.googleblog.com/2025/05/deep-research-updates-gemini-io-2025.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emini.google/overview/deep-research/"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scispace.com/?utm_source=google&amp;utm_medium=cpc&amp;utm_campaign=US_ACQ_Google_CPC_BSearch_INR_ALL_USA&amp;utm_content=Scispace&amp;utm_term=scispace&amp;campaignid=22339795668&amp;adgroupid=177407826718&amp;creative=739355660121&amp;matchtype=p&amp;network=g&amp;device=c&amp;gad_source=1&amp;gad_campaignid=22339795668&amp;gbraid=0AAAAADRGWShz3JGmfv5Fc2Lh6O6E6KqIu&amp;gclid=CjwKCAjwgb_CBhBMEiwA0p3oOAtUQjbSJw7CHVuBA-2XrA6VgbHBh_5RrQYIMxUm-diOQNo589WWHRoCsUcQAvD_BwE" TargetMode="External"/><Relationship Id="rId7" Type="http://schemas.openxmlformats.org/officeDocument/2006/relationships/diagramQuickStyle" Target="../diagrams/quickStyle1.xml"/><Relationship Id="rId2" Type="http://schemas.openxmlformats.org/officeDocument/2006/relationships/slideLayout" Target="../slideLayouts/slideLayout2.xml"/><Relationship Id="rId1" Type="http://schemas.openxmlformats.org/officeDocument/2006/relationships/video" Target="https://www.youtube.com/embed/kiyk2Ckx_dU?start=3&amp;feature=oembed" TargetMode="Externa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3.jpeg"/><Relationship Id="rId9" Type="http://schemas.microsoft.com/office/2007/relationships/diagramDrawing" Target="../diagrams/drawing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scispace.com/?utm_source=google&amp;utm_medium=cpc&amp;utm_campaign=US_ACQ_Google_CPC_BSearch_INR_ALL_USA&amp;utm_content=Scispace&amp;utm_term=scispace&amp;campaignid=22339795668&amp;adgroupid=177407826718&amp;creative=739355660121&amp;matchtype=p&amp;network=g&amp;device=c&amp;gad_source=1&amp;gad_campaignid=22339795668&amp;gbraid=0AAAAADRGWShz3JGmfv5Fc2Lh6O6E6KqIu&amp;gclid=CjwKCAjwgb_CBhBMEiwA0p3oOAtUQjbSJw7CHVuBA-2XrA6VgbHBh_5RrQYIMxUm-diOQNo589WWHRoCsUcQAvD_Bw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cispace.com/help/en/articles/10864812-how-to-use-deep-review-for-advanced-literature-analysis-in-scispac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ultralytics.com/blog/the-role-of-deep-research-models-in-ai-advancements"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datacamp.com/blog/deep-research-opena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3D art of a person">
            <a:extLst>
              <a:ext uri="{FF2B5EF4-FFF2-40B4-BE49-F238E27FC236}">
                <a16:creationId xmlns:a16="http://schemas.microsoft.com/office/drawing/2014/main" id="{D8869EBA-9BFA-204B-69DF-842EDD553F5C}"/>
              </a:ext>
            </a:extLst>
          </p:cNvPr>
          <p:cNvPicPr>
            <a:picLocks noChangeAspect="1"/>
          </p:cNvPicPr>
          <p:nvPr/>
        </p:nvPicPr>
        <p:blipFill>
          <a:blip r:embed="rId2">
            <a:alphaModFix amt="60000"/>
          </a:blip>
          <a:srcRect t="25978" b="17772"/>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1CC5D70A-EAC2-9BAA-47D0-DCFEDF56EA15}"/>
              </a:ext>
            </a:extLst>
          </p:cNvPr>
          <p:cNvSpPr>
            <a:spLocks noGrp="1"/>
          </p:cNvSpPr>
          <p:nvPr>
            <p:ph type="ctrTitle"/>
          </p:nvPr>
        </p:nvSpPr>
        <p:spPr>
          <a:xfrm>
            <a:off x="2301923" y="1482602"/>
            <a:ext cx="7588155" cy="2236264"/>
          </a:xfrm>
        </p:spPr>
        <p:txBody>
          <a:bodyPr>
            <a:normAutofit/>
          </a:bodyPr>
          <a:lstStyle/>
          <a:p>
            <a:r>
              <a:rPr lang="en-US" sz="5400">
                <a:solidFill>
                  <a:srgbClr val="FFFFFF"/>
                </a:solidFill>
              </a:rPr>
              <a:t>AI Deep Research Models</a:t>
            </a:r>
          </a:p>
        </p:txBody>
      </p:sp>
      <p:sp>
        <p:nvSpPr>
          <p:cNvPr id="3" name="Subtitle 2">
            <a:extLst>
              <a:ext uri="{FF2B5EF4-FFF2-40B4-BE49-F238E27FC236}">
                <a16:creationId xmlns:a16="http://schemas.microsoft.com/office/drawing/2014/main" id="{0BDB7134-BF5C-B858-63A8-F2395D2AEDCF}"/>
              </a:ext>
            </a:extLst>
          </p:cNvPr>
          <p:cNvSpPr>
            <a:spLocks noGrp="1"/>
          </p:cNvSpPr>
          <p:nvPr>
            <p:ph type="subTitle" idx="1"/>
          </p:nvPr>
        </p:nvSpPr>
        <p:spPr>
          <a:xfrm>
            <a:off x="2301923" y="3793937"/>
            <a:ext cx="7588155" cy="1414091"/>
          </a:xfrm>
        </p:spPr>
        <p:txBody>
          <a:bodyPr>
            <a:normAutofit/>
          </a:bodyPr>
          <a:lstStyle/>
          <a:p>
            <a:r>
              <a:rPr lang="en-US" sz="2200">
                <a:solidFill>
                  <a:srgbClr val="FFFFFF"/>
                </a:solidFill>
              </a:rPr>
              <a:t>Namig Abbasov</a:t>
            </a:r>
          </a:p>
          <a:p>
            <a:r>
              <a:rPr lang="en-US" sz="2200">
                <a:solidFill>
                  <a:srgbClr val="FFFFFF"/>
                </a:solidFill>
              </a:rPr>
              <a:t>Data Science and Analytics </a:t>
            </a:r>
          </a:p>
        </p:txBody>
      </p:sp>
    </p:spTree>
    <p:extLst>
      <p:ext uri="{BB962C8B-B14F-4D97-AF65-F5344CB8AC3E}">
        <p14:creationId xmlns:p14="http://schemas.microsoft.com/office/powerpoint/2010/main" val="13700676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0" name="Oval 129">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Oval 133">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3F7C7AA-1F0B-5C13-71FD-0D65D6AB7DFB}"/>
              </a:ext>
            </a:extLst>
          </p:cNvPr>
          <p:cNvSpPr>
            <a:spLocks noGrp="1"/>
          </p:cNvSpPr>
          <p:nvPr>
            <p:ph type="title"/>
          </p:nvPr>
        </p:nvSpPr>
        <p:spPr>
          <a:xfrm>
            <a:off x="468085" y="653956"/>
            <a:ext cx="4920778" cy="2096756"/>
          </a:xfrm>
          <a:noFill/>
        </p:spPr>
        <p:txBody>
          <a:bodyPr anchor="t">
            <a:normAutofit/>
          </a:bodyPr>
          <a:lstStyle/>
          <a:p>
            <a:r>
              <a:rPr lang="en-US" sz="4800" dirty="0">
                <a:solidFill>
                  <a:schemeClr val="bg1"/>
                </a:solidFill>
              </a:rPr>
              <a:t>What is AI Deep Research?  </a:t>
            </a:r>
          </a:p>
        </p:txBody>
      </p:sp>
      <p:sp>
        <p:nvSpPr>
          <p:cNvPr id="3" name="Content Placeholder 2">
            <a:extLst>
              <a:ext uri="{FF2B5EF4-FFF2-40B4-BE49-F238E27FC236}">
                <a16:creationId xmlns:a16="http://schemas.microsoft.com/office/drawing/2014/main" id="{2A239F67-A1DF-6A88-5D49-3D24DDE89D6B}"/>
              </a:ext>
            </a:extLst>
          </p:cNvPr>
          <p:cNvSpPr>
            <a:spLocks noGrp="1"/>
          </p:cNvSpPr>
          <p:nvPr>
            <p:ph idx="1"/>
          </p:nvPr>
        </p:nvSpPr>
        <p:spPr>
          <a:xfrm>
            <a:off x="4794149" y="630936"/>
            <a:ext cx="6929766" cy="2096769"/>
          </a:xfrm>
          <a:noFill/>
        </p:spPr>
        <p:txBody>
          <a:bodyPr anchor="t">
            <a:noAutofit/>
          </a:bodyPr>
          <a:lstStyle/>
          <a:p>
            <a:r>
              <a:rPr lang="en-US" sz="2200" dirty="0">
                <a:solidFill>
                  <a:schemeClr val="bg1"/>
                </a:solidFill>
                <a:latin typeface="Georgia" panose="02040502050405020303" pitchFamily="18" charset="0"/>
              </a:rPr>
              <a:t>goes beyond basic Q&amp;A to autonomously gather info </a:t>
            </a:r>
          </a:p>
          <a:p>
            <a:r>
              <a:rPr lang="en-US" sz="2200" dirty="0">
                <a:solidFill>
                  <a:schemeClr val="bg1"/>
                </a:solidFill>
                <a:latin typeface="Georgia" panose="02040502050405020303" pitchFamily="18" charset="0"/>
              </a:rPr>
              <a:t>search, read, and analyze many online sources</a:t>
            </a:r>
          </a:p>
          <a:p>
            <a:pPr lvl="1"/>
            <a:r>
              <a:rPr lang="en-US" sz="2200" dirty="0">
                <a:solidFill>
                  <a:schemeClr val="bg1"/>
                </a:solidFill>
                <a:latin typeface="Georgia" panose="02040502050405020303" pitchFamily="18" charset="0"/>
              </a:rPr>
              <a:t>web pages, PDFs, and images</a:t>
            </a:r>
          </a:p>
          <a:p>
            <a:pPr lvl="1"/>
            <a:r>
              <a:rPr lang="en-US" sz="2200" dirty="0">
                <a:solidFill>
                  <a:schemeClr val="bg1"/>
                </a:solidFill>
                <a:latin typeface="Georgia" panose="02040502050405020303" pitchFamily="18" charset="0"/>
              </a:rPr>
              <a:t>all in response to a single user prompt</a:t>
            </a:r>
          </a:p>
          <a:p>
            <a:r>
              <a:rPr lang="en-US" sz="2200" dirty="0">
                <a:solidFill>
                  <a:schemeClr val="bg1"/>
                </a:solidFill>
                <a:latin typeface="Georgia" panose="02040502050405020303" pitchFamily="18" charset="0"/>
              </a:rPr>
              <a:t>synthesize knowledge from these sources</a:t>
            </a:r>
          </a:p>
          <a:p>
            <a:r>
              <a:rPr lang="en-US" sz="2200" dirty="0">
                <a:solidFill>
                  <a:schemeClr val="bg1"/>
                </a:solidFill>
                <a:latin typeface="Georgia" panose="02040502050405020303" pitchFamily="18" charset="0"/>
              </a:rPr>
              <a:t>takes much longer than standard models </a:t>
            </a:r>
          </a:p>
          <a:p>
            <a:endParaRPr lang="en-US" sz="2200" dirty="0">
              <a:solidFill>
                <a:schemeClr val="bg1"/>
              </a:solidFill>
              <a:latin typeface="Georgia" panose="02040502050405020303" pitchFamily="18" charset="0"/>
            </a:endParaRPr>
          </a:p>
        </p:txBody>
      </p:sp>
      <p:sp>
        <p:nvSpPr>
          <p:cNvPr id="137" name="Rectangle 136">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 138">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140" name="Straight Connector 139">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45" name="Rectangle 144">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148" name="Straight Connector 147">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Picture 4" descr="A screenshot of a phone&#10;&#10;AI-generated content may be incorrect.">
            <a:extLst>
              <a:ext uri="{FF2B5EF4-FFF2-40B4-BE49-F238E27FC236}">
                <a16:creationId xmlns:a16="http://schemas.microsoft.com/office/drawing/2014/main" id="{F66B2EA2-9F83-F042-8623-AFCB1BBBFFF6}"/>
              </a:ext>
            </a:extLst>
          </p:cNvPr>
          <p:cNvPicPr>
            <a:picLocks noChangeAspect="1"/>
          </p:cNvPicPr>
          <p:nvPr/>
        </p:nvPicPr>
        <p:blipFill>
          <a:blip r:embed="rId3"/>
          <a:stretch>
            <a:fillRect/>
          </a:stretch>
        </p:blipFill>
        <p:spPr>
          <a:xfrm>
            <a:off x="510735" y="4020627"/>
            <a:ext cx="10843065" cy="2629443"/>
          </a:xfrm>
          <a:prstGeom prst="rect">
            <a:avLst/>
          </a:prstGeom>
        </p:spPr>
      </p:pic>
      <p:grpSp>
        <p:nvGrpSpPr>
          <p:cNvPr id="153" name="Group 152">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154" name="Straight Connector 153">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4909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86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E1455F-2874-896D-2D87-2DF0576C4BE7}"/>
              </a:ext>
            </a:extLst>
          </p:cNvPr>
          <p:cNvSpPr>
            <a:spLocks noGrp="1"/>
          </p:cNvSpPr>
          <p:nvPr>
            <p:ph type="title"/>
          </p:nvPr>
        </p:nvSpPr>
        <p:spPr>
          <a:xfrm>
            <a:off x="269019" y="2074362"/>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dirty="0">
                <a:solidFill>
                  <a:srgbClr val="FFFFFF"/>
                </a:solidFill>
                <a:latin typeface="+mj-lt"/>
                <a:ea typeface="+mj-ea"/>
                <a:cs typeface="+mj-cs"/>
                <a:hlinkClick r:id="rId2"/>
              </a:rPr>
              <a:t>Capabilities of Deep Research Models </a:t>
            </a:r>
            <a:endParaRPr lang="en-US" sz="2600" b="1" kern="1200" dirty="0">
              <a:solidFill>
                <a:srgbClr val="FFFFFF"/>
              </a:solidFill>
              <a:latin typeface="+mj-lt"/>
              <a:ea typeface="+mj-ea"/>
              <a:cs typeface="+mj-cs"/>
            </a:endParaRPr>
          </a:p>
        </p:txBody>
      </p:sp>
      <p:pic>
        <p:nvPicPr>
          <p:cNvPr id="4" name="Picture 2" descr="__wf_reserved_inherit">
            <a:extLst>
              <a:ext uri="{FF2B5EF4-FFF2-40B4-BE49-F238E27FC236}">
                <a16:creationId xmlns:a16="http://schemas.microsoft.com/office/drawing/2014/main" id="{93760681-95FB-50C7-0E9A-487EAAE9195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5396" t="19032" r="4776" b="12325"/>
          <a:stretch>
            <a:fillRect/>
          </a:stretch>
        </p:blipFill>
        <p:spPr bwMode="auto">
          <a:xfrm>
            <a:off x="3021373" y="1140206"/>
            <a:ext cx="8680297" cy="46929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323A1A-0F8D-0AE6-CB02-549875F16DE1}"/>
              </a:ext>
            </a:extLst>
          </p:cNvPr>
          <p:cNvSpPr txBox="1"/>
          <p:nvPr/>
        </p:nvSpPr>
        <p:spPr>
          <a:xfrm>
            <a:off x="2425099" y="6161315"/>
            <a:ext cx="1189749" cy="369332"/>
          </a:xfrm>
          <a:prstGeom prst="rect">
            <a:avLst/>
          </a:prstGeom>
          <a:noFill/>
        </p:spPr>
        <p:txBody>
          <a:bodyPr wrap="none" rtlCol="0">
            <a:spAutoFit/>
          </a:bodyPr>
          <a:lstStyle/>
          <a:p>
            <a:r>
              <a:rPr lang="en-US" b="1" dirty="0">
                <a:hlinkClick r:id="rId4"/>
              </a:rPr>
              <a:t>Vina 2025</a:t>
            </a:r>
          </a:p>
        </p:txBody>
      </p:sp>
    </p:spTree>
    <p:extLst>
      <p:ext uri="{BB962C8B-B14F-4D97-AF65-F5344CB8AC3E}">
        <p14:creationId xmlns:p14="http://schemas.microsoft.com/office/powerpoint/2010/main" val="159854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1" name="Rectangle 11280">
            <a:extLst>
              <a:ext uri="{FF2B5EF4-FFF2-40B4-BE49-F238E27FC236}">
                <a16:creationId xmlns:a16="http://schemas.microsoft.com/office/drawing/2014/main" id="{BF8BE9A2-8956-141B-BFE6-C607C93D8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9F4CCA-25BB-F034-24A3-3CE75C92151C}"/>
              </a:ext>
            </a:extLst>
          </p:cNvPr>
          <p:cNvSpPr>
            <a:spLocks noGrp="1"/>
          </p:cNvSpPr>
          <p:nvPr>
            <p:ph type="title"/>
          </p:nvPr>
        </p:nvSpPr>
        <p:spPr>
          <a:xfrm>
            <a:off x="321734" y="4837132"/>
            <a:ext cx="4705097" cy="1615684"/>
          </a:xfrm>
        </p:spPr>
        <p:txBody>
          <a:bodyPr>
            <a:normAutofit/>
          </a:bodyPr>
          <a:lstStyle/>
          <a:p>
            <a:r>
              <a:rPr lang="en-US" b="1" dirty="0">
                <a:hlinkClick r:id="rId3"/>
              </a:rPr>
              <a:t>AI Tools for Deep Research</a:t>
            </a:r>
            <a:endParaRPr lang="en-US" dirty="0"/>
          </a:p>
        </p:txBody>
      </p:sp>
      <p:pic>
        <p:nvPicPr>
          <p:cNvPr id="11266" name="Picture 2" descr="Close-up of a magnifying glass over a newspaper&#10;&#10;AI-generated content may be incorrect.">
            <a:extLst>
              <a:ext uri="{FF2B5EF4-FFF2-40B4-BE49-F238E27FC236}">
                <a16:creationId xmlns:a16="http://schemas.microsoft.com/office/drawing/2014/main" id="{BE1AAF08-F0FD-CF0B-C361-9530212973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787" b="25754"/>
          <a:stretch>
            <a:fillRect/>
          </a:stretch>
        </p:blipFill>
        <p:spPr bwMode="auto">
          <a:xfrm>
            <a:off x="20" y="10"/>
            <a:ext cx="12191980" cy="455777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B94F7FE-21EF-9437-713B-017DB0DB7843}"/>
              </a:ext>
            </a:extLst>
          </p:cNvPr>
          <p:cNvSpPr>
            <a:spLocks noGrp="1"/>
          </p:cNvSpPr>
          <p:nvPr>
            <p:ph idx="1"/>
          </p:nvPr>
        </p:nvSpPr>
        <p:spPr>
          <a:xfrm>
            <a:off x="4597087" y="5098880"/>
            <a:ext cx="3681257" cy="1615684"/>
          </a:xfrm>
        </p:spPr>
        <p:txBody>
          <a:bodyPr>
            <a:noAutofit/>
          </a:bodyPr>
          <a:lstStyle/>
          <a:p>
            <a:pPr>
              <a:lnSpc>
                <a:spcPct val="100000"/>
              </a:lnSpc>
            </a:pPr>
            <a:r>
              <a:rPr lang="en-US" sz="2000" dirty="0">
                <a:latin typeface="Georgia" panose="02040502050405020303" pitchFamily="18" charset="0"/>
              </a:rPr>
              <a:t>Grok 3 Deep Research</a:t>
            </a:r>
          </a:p>
          <a:p>
            <a:pPr>
              <a:lnSpc>
                <a:spcPct val="100000"/>
              </a:lnSpc>
            </a:pPr>
            <a:r>
              <a:rPr lang="en-US" sz="2000" dirty="0">
                <a:latin typeface="Georgia" panose="02040502050405020303" pitchFamily="18" charset="0"/>
              </a:rPr>
              <a:t>OpenAI Deep Research</a:t>
            </a:r>
          </a:p>
          <a:p>
            <a:pPr>
              <a:lnSpc>
                <a:spcPct val="100000"/>
              </a:lnSpc>
            </a:pPr>
            <a:r>
              <a:rPr lang="en-US" sz="2000" dirty="0">
                <a:latin typeface="Georgia" panose="02040502050405020303" pitchFamily="18" charset="0"/>
              </a:rPr>
              <a:t>Perplexity Deep Research</a:t>
            </a:r>
          </a:p>
        </p:txBody>
      </p:sp>
      <p:sp>
        <p:nvSpPr>
          <p:cNvPr id="5" name="TextBox 4">
            <a:extLst>
              <a:ext uri="{FF2B5EF4-FFF2-40B4-BE49-F238E27FC236}">
                <a16:creationId xmlns:a16="http://schemas.microsoft.com/office/drawing/2014/main" id="{E1D27487-89D2-43E7-6C03-BFEEA1A5F1E1}"/>
              </a:ext>
            </a:extLst>
          </p:cNvPr>
          <p:cNvSpPr txBox="1"/>
          <p:nvPr/>
        </p:nvSpPr>
        <p:spPr>
          <a:xfrm>
            <a:off x="7848600" y="5022488"/>
            <a:ext cx="4267200" cy="143032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latin typeface="Georgia" panose="02040502050405020303" pitchFamily="18" charset="0"/>
              </a:rPr>
              <a:t>Google Gemini Deep Research</a:t>
            </a:r>
          </a:p>
          <a:p>
            <a:pPr marL="342900" indent="-342900">
              <a:lnSpc>
                <a:spcPct val="150000"/>
              </a:lnSpc>
              <a:buFont typeface="Arial" panose="020B0604020202020204" pitchFamily="34" charset="0"/>
              <a:buChar char="•"/>
            </a:pPr>
            <a:r>
              <a:rPr lang="en-US" sz="2000" dirty="0" err="1">
                <a:latin typeface="Georgia" panose="02040502050405020303" pitchFamily="18" charset="0"/>
              </a:rPr>
              <a:t>DeepSeek’s</a:t>
            </a:r>
            <a:r>
              <a:rPr lang="en-US" sz="2000" dirty="0">
                <a:latin typeface="Georgia" panose="02040502050405020303" pitchFamily="18" charset="0"/>
              </a:rPr>
              <a:t> </a:t>
            </a:r>
            <a:r>
              <a:rPr lang="en-US" sz="2000" dirty="0" err="1">
                <a:latin typeface="Georgia" panose="02040502050405020303" pitchFamily="18" charset="0"/>
              </a:rPr>
              <a:t>DeepThink</a:t>
            </a:r>
            <a:endParaRPr lang="en-US" sz="2000" dirty="0">
              <a:latin typeface="Georgia" panose="02040502050405020303" pitchFamily="18" charset="0"/>
            </a:endParaRPr>
          </a:p>
          <a:p>
            <a:pPr marL="342900" indent="-342900">
              <a:lnSpc>
                <a:spcPct val="150000"/>
              </a:lnSpc>
              <a:buFont typeface="Arial" panose="020B0604020202020204" pitchFamily="34" charset="0"/>
              <a:buChar char="•"/>
            </a:pPr>
            <a:r>
              <a:rPr lang="en-US" sz="2000" dirty="0">
                <a:latin typeface="Georgia" panose="02040502050405020303" pitchFamily="18" charset="0"/>
              </a:rPr>
              <a:t>Microsoft Copilot’s Think Deeper</a:t>
            </a:r>
            <a:endParaRPr lang="en-US" sz="2000" dirty="0"/>
          </a:p>
        </p:txBody>
      </p:sp>
    </p:spTree>
    <p:extLst>
      <p:ext uri="{BB962C8B-B14F-4D97-AF65-F5344CB8AC3E}">
        <p14:creationId xmlns:p14="http://schemas.microsoft.com/office/powerpoint/2010/main" val="3666153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20" name="Rectangle 821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2" name="Rectangle 822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24" name="Group 8223">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8225" name="Oval 8224">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6" name="Oval 8225">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7" name="Oval 8226">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8" name="Oval 8227">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29" name="Oval 8228">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0" name="Oval 8229">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E66C6C-A792-2391-F0FB-A8BEEEB770A1}"/>
              </a:ext>
            </a:extLst>
          </p:cNvPr>
          <p:cNvSpPr>
            <a:spLocks noGrp="1"/>
          </p:cNvSpPr>
          <p:nvPr>
            <p:ph type="title"/>
          </p:nvPr>
        </p:nvSpPr>
        <p:spPr>
          <a:xfrm>
            <a:off x="630936" y="630936"/>
            <a:ext cx="5260992" cy="2096756"/>
          </a:xfrm>
          <a:noFill/>
        </p:spPr>
        <p:txBody>
          <a:bodyPr anchor="t">
            <a:normAutofit/>
          </a:bodyPr>
          <a:lstStyle/>
          <a:p>
            <a:r>
              <a:rPr lang="en-US" sz="4800" b="1" dirty="0">
                <a:solidFill>
                  <a:schemeClr val="bg1"/>
                </a:solidFill>
                <a:hlinkClick r:id="rId2"/>
              </a:rPr>
              <a:t>OpenAI’s Deep Research</a:t>
            </a:r>
            <a:endParaRPr lang="en-US" sz="4800" dirty="0">
              <a:solidFill>
                <a:schemeClr val="bg1"/>
              </a:solidFill>
            </a:endParaRPr>
          </a:p>
        </p:txBody>
      </p:sp>
      <p:sp>
        <p:nvSpPr>
          <p:cNvPr id="3" name="Content Placeholder 2">
            <a:extLst>
              <a:ext uri="{FF2B5EF4-FFF2-40B4-BE49-F238E27FC236}">
                <a16:creationId xmlns:a16="http://schemas.microsoft.com/office/drawing/2014/main" id="{F7626BFF-F42D-BD82-26DE-4C800E4C7848}"/>
              </a:ext>
            </a:extLst>
          </p:cNvPr>
          <p:cNvSpPr>
            <a:spLocks noGrp="1"/>
          </p:cNvSpPr>
          <p:nvPr>
            <p:ph idx="1"/>
          </p:nvPr>
        </p:nvSpPr>
        <p:spPr>
          <a:xfrm>
            <a:off x="5094514" y="630936"/>
            <a:ext cx="6379910" cy="2376598"/>
          </a:xfrm>
          <a:noFill/>
        </p:spPr>
        <p:txBody>
          <a:bodyPr anchor="t">
            <a:normAutofit fontScale="92500" lnSpcReduction="10000"/>
          </a:bodyPr>
          <a:lstStyle/>
          <a:p>
            <a:r>
              <a:rPr lang="en-US" sz="2600" dirty="0">
                <a:solidFill>
                  <a:schemeClr val="bg1"/>
                </a:solidFill>
                <a:latin typeface="Georgia" panose="02040502050405020303" pitchFamily="18" charset="0"/>
              </a:rPr>
              <a:t>AI agent powered by a version of </a:t>
            </a:r>
            <a:r>
              <a:rPr lang="en-US" sz="2600" u="sng" dirty="0">
                <a:solidFill>
                  <a:schemeClr val="bg1"/>
                </a:solidFill>
                <a:latin typeface="Georgia" panose="02040502050405020303" pitchFamily="18" charset="0"/>
                <a:hlinkClick r:id="rId3"/>
              </a:rPr>
              <a:t>o3 model</a:t>
            </a:r>
            <a:endParaRPr lang="en-US" sz="2600" u="sng" dirty="0">
              <a:solidFill>
                <a:schemeClr val="bg1"/>
              </a:solidFill>
              <a:latin typeface="Georgia" panose="02040502050405020303" pitchFamily="18" charset="0"/>
            </a:endParaRPr>
          </a:p>
          <a:p>
            <a:r>
              <a:rPr lang="en-US" sz="2600" dirty="0">
                <a:solidFill>
                  <a:schemeClr val="bg1"/>
                </a:solidFill>
                <a:latin typeface="Georgia" panose="02040502050405020303" pitchFamily="18" charset="0"/>
              </a:rPr>
              <a:t>Designed to browse web and analyze multiple sources</a:t>
            </a:r>
          </a:p>
          <a:p>
            <a:r>
              <a:rPr lang="en-US" sz="2600" dirty="0">
                <a:solidFill>
                  <a:schemeClr val="bg1"/>
                </a:solidFill>
                <a:latin typeface="Georgia" panose="02040502050405020303" pitchFamily="18" charset="0"/>
              </a:rPr>
              <a:t>Synthesize large amounts of information.</a:t>
            </a:r>
          </a:p>
          <a:p>
            <a:r>
              <a:rPr lang="en-US" sz="2600" dirty="0">
                <a:solidFill>
                  <a:schemeClr val="bg1"/>
                </a:solidFill>
                <a:latin typeface="Georgia" panose="02040502050405020303" pitchFamily="18" charset="0"/>
              </a:rPr>
              <a:t>Has great potential but but also produces incorrect info and inferences</a:t>
            </a:r>
          </a:p>
          <a:p>
            <a:endParaRPr lang="en-US" sz="1800" dirty="0">
              <a:solidFill>
                <a:schemeClr val="bg1"/>
              </a:solidFill>
              <a:latin typeface="Georgia" panose="02040502050405020303" pitchFamily="18" charset="0"/>
            </a:endParaRPr>
          </a:p>
        </p:txBody>
      </p:sp>
      <p:sp>
        <p:nvSpPr>
          <p:cNvPr id="8232" name="Rectangle 8231">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34" name="Group 8233">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8235" name="Straight Connector 8234">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36" name="Straight Connector 8235">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37" name="Straight Connector 8236">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38" name="Straight Connector 8237">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8240" name="Rectangle 8239">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42" name="Group 8241">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8243" name="Straight Connector 8242">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44" name="Straight Connector 8243">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45" name="Straight Connector 8244">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246" name="Straight Connector 8245">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8194" name="Picture 2" descr="OpenAI's DeepResearch can be access from the chat">
            <a:extLst>
              <a:ext uri="{FF2B5EF4-FFF2-40B4-BE49-F238E27FC236}">
                <a16:creationId xmlns:a16="http://schemas.microsoft.com/office/drawing/2014/main" id="{725A35BC-4F61-2E6D-E27F-D6B16B66336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1359" y="3095382"/>
            <a:ext cx="10843065" cy="2846303"/>
          </a:xfrm>
          <a:prstGeom prst="rect">
            <a:avLst/>
          </a:prstGeom>
          <a:noFill/>
          <a:extLst>
            <a:ext uri="{909E8E84-426E-40DD-AFC4-6F175D3DCCD1}">
              <a14:hiddenFill xmlns:a14="http://schemas.microsoft.com/office/drawing/2010/main">
                <a:solidFill>
                  <a:srgbClr val="FFFFFF"/>
                </a:solidFill>
              </a14:hiddenFill>
            </a:ext>
          </a:extLst>
        </p:spPr>
      </p:pic>
      <p:grpSp>
        <p:nvGrpSpPr>
          <p:cNvPr id="8248" name="Group 8247">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8249" name="Straight Connector 8248">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50" name="Straight Connector 8249">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51" name="Straight Connector 8250">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52" name="Straight Connector 8251">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7799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565EC-30DE-FD0F-7CBE-9BA43B45187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Open AI Deep Research Performanc</a:t>
            </a:r>
            <a:r>
              <a:rPr lang="en-US" sz="3200" dirty="0">
                <a:solidFill>
                  <a:schemeClr val="bg1"/>
                </a:solidFill>
              </a:rPr>
              <a:t>e: HLE</a:t>
            </a:r>
            <a:endParaRPr lang="en-US" sz="3200" kern="1200" dirty="0">
              <a:solidFill>
                <a:schemeClr val="bg1"/>
              </a:solidFill>
              <a:latin typeface="+mj-lt"/>
              <a:ea typeface="+mj-ea"/>
              <a:cs typeface="+mj-cs"/>
            </a:endParaRPr>
          </a:p>
        </p:txBody>
      </p:sp>
      <p:pic>
        <p:nvPicPr>
          <p:cNvPr id="1026" name="Picture 2" descr="Output image">
            <a:extLst>
              <a:ext uri="{FF2B5EF4-FFF2-40B4-BE49-F238E27FC236}">
                <a16:creationId xmlns:a16="http://schemas.microsoft.com/office/drawing/2014/main" id="{93EE40C7-475E-0058-B014-B910F906C7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92695" y="1347728"/>
            <a:ext cx="10859727" cy="53755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39CCE9-A535-F62E-3F2F-E0F0E6C29BB5}"/>
              </a:ext>
            </a:extLst>
          </p:cNvPr>
          <p:cNvSpPr txBox="1"/>
          <p:nvPr/>
        </p:nvSpPr>
        <p:spPr>
          <a:xfrm>
            <a:off x="251791" y="6353962"/>
            <a:ext cx="4675447" cy="369332"/>
          </a:xfrm>
          <a:prstGeom prst="rect">
            <a:avLst/>
          </a:prstGeom>
          <a:noFill/>
        </p:spPr>
        <p:txBody>
          <a:bodyPr wrap="none" rtlCol="0">
            <a:spAutoFit/>
          </a:bodyPr>
          <a:lstStyle/>
          <a:p>
            <a:r>
              <a:rPr lang="en-US" dirty="0"/>
              <a:t>Source: Plotted based on online  </a:t>
            </a:r>
            <a:r>
              <a:rPr lang="en-US" dirty="0">
                <a:hlinkClick r:id="rId3"/>
              </a:rPr>
              <a:t>OpenAI data</a:t>
            </a:r>
            <a:endParaRPr lang="en-US" dirty="0"/>
          </a:p>
        </p:txBody>
      </p:sp>
    </p:spTree>
    <p:extLst>
      <p:ext uri="{BB962C8B-B14F-4D97-AF65-F5344CB8AC3E}">
        <p14:creationId xmlns:p14="http://schemas.microsoft.com/office/powerpoint/2010/main" val="427138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7E98B8-CFE2-873F-F6B8-92CA8D8CC2D2}"/>
              </a:ext>
            </a:extLst>
          </p:cNvPr>
          <p:cNvSpPr>
            <a:spLocks noGrp="1"/>
          </p:cNvSpPr>
          <p:nvPr>
            <p:ph type="title"/>
          </p:nvPr>
        </p:nvSpPr>
        <p:spPr>
          <a:xfrm>
            <a:off x="411480" y="2072667"/>
            <a:ext cx="2527663" cy="2709275"/>
          </a:xfrm>
          <a:prstGeom prst="ellipse">
            <a:avLst/>
          </a:prstGeom>
          <a:solidFill>
            <a:srgbClr val="262626"/>
          </a:solidFill>
          <a:ln w="174625" cmpd="thinThick">
            <a:solidFill>
              <a:srgbClr val="262626"/>
            </a:solidFill>
          </a:ln>
        </p:spPr>
        <p:txBody>
          <a:bodyPr vert="horz" lIns="91440" tIns="45720" rIns="91440" bIns="45720" rtlCol="0" anchor="ctr">
            <a:normAutofit fontScale="90000"/>
          </a:bodyPr>
          <a:lstStyle/>
          <a:p>
            <a:pPr algn="ctr"/>
            <a:r>
              <a:rPr lang="en-US" sz="2700" kern="1200" dirty="0">
                <a:solidFill>
                  <a:srgbClr val="FFFFFF"/>
                </a:solidFill>
                <a:latin typeface="Georgia" panose="02040502050405020303" pitchFamily="18" charset="0"/>
              </a:rPr>
              <a:t>Open AI Deep Research Performance: GAIA</a:t>
            </a:r>
            <a:br>
              <a:rPr lang="en-US" sz="2400" kern="1200" dirty="0">
                <a:solidFill>
                  <a:srgbClr val="FFFFFF"/>
                </a:solidFill>
                <a:latin typeface="+mj-lt"/>
                <a:ea typeface="+mj-ea"/>
                <a:cs typeface="+mj-cs"/>
              </a:rPr>
            </a:br>
            <a:endParaRPr lang="en-US" sz="2400" kern="1200" dirty="0">
              <a:solidFill>
                <a:srgbClr val="FFFFFF"/>
              </a:solidFill>
              <a:latin typeface="+mj-lt"/>
              <a:ea typeface="+mj-ea"/>
              <a:cs typeface="+mj-cs"/>
            </a:endParaRPr>
          </a:p>
        </p:txBody>
      </p:sp>
      <p:pic>
        <p:nvPicPr>
          <p:cNvPr id="5" name="Content Placeholder 4" descr="A graph of different colored bars&#10;&#10;AI-generated content may be incorrect.">
            <a:extLst>
              <a:ext uri="{FF2B5EF4-FFF2-40B4-BE49-F238E27FC236}">
                <a16:creationId xmlns:a16="http://schemas.microsoft.com/office/drawing/2014/main" id="{57B89C0E-7D00-03B9-1E82-56DC9E6F1CF5}"/>
              </a:ext>
            </a:extLst>
          </p:cNvPr>
          <p:cNvPicPr>
            <a:picLocks noGrp="1" noChangeAspect="1"/>
          </p:cNvPicPr>
          <p:nvPr>
            <p:ph idx="1"/>
          </p:nvPr>
        </p:nvPicPr>
        <p:blipFill>
          <a:blip r:embed="rId2"/>
          <a:stretch>
            <a:fillRect/>
          </a:stretch>
        </p:blipFill>
        <p:spPr>
          <a:xfrm>
            <a:off x="3026229" y="740229"/>
            <a:ext cx="8963605" cy="5333345"/>
          </a:xfrm>
          <a:prstGeom prst="rect">
            <a:avLst/>
          </a:prstGeom>
        </p:spPr>
      </p:pic>
    </p:spTree>
    <p:extLst>
      <p:ext uri="{BB962C8B-B14F-4D97-AF65-F5344CB8AC3E}">
        <p14:creationId xmlns:p14="http://schemas.microsoft.com/office/powerpoint/2010/main" val="1481501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21B07-2398-887C-D0F1-688078052C60}"/>
              </a:ext>
            </a:extLst>
          </p:cNvPr>
          <p:cNvSpPr>
            <a:spLocks noGrp="1"/>
          </p:cNvSpPr>
          <p:nvPr>
            <p:ph type="title"/>
          </p:nvPr>
        </p:nvSpPr>
        <p:spPr>
          <a:xfrm>
            <a:off x="623534" y="-245805"/>
            <a:ext cx="8542237" cy="1360728"/>
          </a:xfrm>
        </p:spPr>
        <p:txBody>
          <a:bodyPr anchor="b">
            <a:normAutofit/>
          </a:bodyPr>
          <a:lstStyle/>
          <a:p>
            <a:r>
              <a:rPr lang="en-US" sz="3100" b="1" dirty="0">
                <a:latin typeface="Georgia" panose="02040502050405020303" pitchFamily="18" charset="0"/>
                <a:hlinkClick r:id="rId2"/>
              </a:rPr>
              <a:t>Google’s Gemini Deep Research Model</a:t>
            </a:r>
            <a:endParaRPr lang="en-US" sz="3100" dirty="0"/>
          </a:p>
        </p:txBody>
      </p:sp>
      <p:sp>
        <p:nvSpPr>
          <p:cNvPr id="3" name="Content Placeholder 2">
            <a:extLst>
              <a:ext uri="{FF2B5EF4-FFF2-40B4-BE49-F238E27FC236}">
                <a16:creationId xmlns:a16="http://schemas.microsoft.com/office/drawing/2014/main" id="{CE8228FE-14F5-72D6-2C99-C5AA01A175ED}"/>
              </a:ext>
            </a:extLst>
          </p:cNvPr>
          <p:cNvSpPr>
            <a:spLocks noGrp="1"/>
          </p:cNvSpPr>
          <p:nvPr>
            <p:ph idx="1"/>
          </p:nvPr>
        </p:nvSpPr>
        <p:spPr>
          <a:xfrm>
            <a:off x="424543" y="1377086"/>
            <a:ext cx="5290458" cy="4365990"/>
          </a:xfrm>
        </p:spPr>
        <p:txBody>
          <a:bodyPr>
            <a:normAutofit/>
          </a:bodyPr>
          <a:lstStyle/>
          <a:p>
            <a:r>
              <a:rPr lang="en-US" sz="2400" dirty="0">
                <a:latin typeface="Georgia" panose="02040502050405020303" pitchFamily="18" charset="0"/>
                <a:hlinkClick r:id="rId3"/>
              </a:rPr>
              <a:t>Introduced in Feb 2025 for users with access to Gemini Advanced</a:t>
            </a:r>
            <a:endParaRPr lang="en-US" sz="2400" dirty="0">
              <a:latin typeface="Georgia" panose="02040502050405020303" pitchFamily="18" charset="0"/>
            </a:endParaRPr>
          </a:p>
          <a:p>
            <a:r>
              <a:rPr lang="en-US" sz="2400" dirty="0">
                <a:latin typeface="Georgia" panose="02040502050405020303" pitchFamily="18" charset="0"/>
                <a:hlinkClick r:id="rId4"/>
              </a:rPr>
              <a:t>Updated in May 2025</a:t>
            </a:r>
            <a:endParaRPr lang="en-US" sz="2400" dirty="0">
              <a:latin typeface="Georgia" panose="02040502050405020303" pitchFamily="18" charset="0"/>
            </a:endParaRPr>
          </a:p>
          <a:p>
            <a:pPr lvl="1"/>
            <a:r>
              <a:rPr lang="en-US" sz="2000" dirty="0">
                <a:latin typeface="Georgia" panose="02040502050405020303" pitchFamily="18" charset="0"/>
              </a:rPr>
              <a:t>Use with 2.5 Flash Experimental</a:t>
            </a:r>
          </a:p>
          <a:p>
            <a:pPr lvl="1"/>
            <a:r>
              <a:rPr lang="en-US" sz="2000" dirty="0">
                <a:latin typeface="Georgia" panose="02040502050405020303" pitchFamily="18" charset="0"/>
              </a:rPr>
              <a:t>Upload PDFs and links from Google Drive</a:t>
            </a:r>
          </a:p>
          <a:p>
            <a:r>
              <a:rPr lang="en-US" sz="2400" dirty="0">
                <a:latin typeface="Georgia" panose="02040502050405020303" pitchFamily="18" charset="0"/>
              </a:rPr>
              <a:t>Use Cases from Its Website:</a:t>
            </a:r>
          </a:p>
          <a:p>
            <a:pPr lvl="1"/>
            <a:r>
              <a:rPr lang="en-US" dirty="0">
                <a:latin typeface="Georgia" panose="02040502050405020303" pitchFamily="18" charset="0"/>
              </a:rPr>
              <a:t>Industry research</a:t>
            </a:r>
          </a:p>
          <a:p>
            <a:pPr lvl="1"/>
            <a:r>
              <a:rPr lang="en-US" dirty="0">
                <a:latin typeface="Georgia" panose="02040502050405020303" pitchFamily="18" charset="0"/>
              </a:rPr>
              <a:t>Competitive research</a:t>
            </a:r>
          </a:p>
          <a:p>
            <a:pPr lvl="1"/>
            <a:r>
              <a:rPr lang="en-US" dirty="0">
                <a:latin typeface="Georgia" panose="02040502050405020303" pitchFamily="18" charset="0"/>
              </a:rPr>
              <a:t>Customer research</a:t>
            </a:r>
          </a:p>
          <a:p>
            <a:pPr lvl="1"/>
            <a:r>
              <a:rPr lang="en-US" dirty="0">
                <a:latin typeface="Georgia" panose="02040502050405020303" pitchFamily="18" charset="0"/>
              </a:rPr>
              <a:t>Educational research</a:t>
            </a:r>
          </a:p>
          <a:p>
            <a:endParaRPr lang="en-US" sz="1800" dirty="0"/>
          </a:p>
        </p:txBody>
      </p:sp>
      <p:pic>
        <p:nvPicPr>
          <p:cNvPr id="1026" name="Picture 2" descr="A screenshot of a black screen&#10;&#10;AI-generated content may be incorrect.">
            <a:extLst>
              <a:ext uri="{FF2B5EF4-FFF2-40B4-BE49-F238E27FC236}">
                <a16:creationId xmlns:a16="http://schemas.microsoft.com/office/drawing/2014/main" id="{A5442B67-2143-8EDF-57F8-2EE18D07DF0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957915" y="1377086"/>
            <a:ext cx="5004000" cy="4365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979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E5F97-6938-E07F-18F7-8F91F01660CC}"/>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b="1" kern="1200" dirty="0">
                <a:solidFill>
                  <a:srgbClr val="FFFFFF"/>
                </a:solidFill>
                <a:latin typeface="+mj-lt"/>
                <a:ea typeface="+mj-ea"/>
                <a:cs typeface="+mj-cs"/>
                <a:hlinkClick r:id="rId2"/>
              </a:rPr>
              <a:t>This Video Show Step-By-Step Process of Using Gemini Deep Research Model</a:t>
            </a:r>
            <a:endParaRPr lang="en-US" sz="2000" kern="1200" dirty="0">
              <a:solidFill>
                <a:srgbClr val="FFFFFF"/>
              </a:solidFill>
              <a:latin typeface="+mj-lt"/>
              <a:ea typeface="+mj-ea"/>
              <a:cs typeface="+mj-cs"/>
            </a:endParaRPr>
          </a:p>
        </p:txBody>
      </p:sp>
      <p:pic>
        <p:nvPicPr>
          <p:cNvPr id="1026" name="Picture 2">
            <a:extLst>
              <a:ext uri="{FF2B5EF4-FFF2-40B4-BE49-F238E27FC236}">
                <a16:creationId xmlns:a16="http://schemas.microsoft.com/office/drawing/2014/main" id="{60334E7B-ED9A-23EF-DA6E-686515D746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038600" y="1180993"/>
            <a:ext cx="7188199" cy="4492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228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5" name="Rectangle 6174">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31A81-407C-60F2-C51B-9AE1D5BEDC5E}"/>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b="1"/>
              <a:t>Perplexity’s Deep Research Model</a:t>
            </a:r>
            <a:endParaRPr lang="en-US"/>
          </a:p>
        </p:txBody>
      </p:sp>
      <p:sp>
        <p:nvSpPr>
          <p:cNvPr id="6" name="Content Placeholder 5">
            <a:extLst>
              <a:ext uri="{FF2B5EF4-FFF2-40B4-BE49-F238E27FC236}">
                <a16:creationId xmlns:a16="http://schemas.microsoft.com/office/drawing/2014/main" id="{96D719D6-F3A4-C811-643F-5DA15B2862FD}"/>
              </a:ext>
            </a:extLst>
          </p:cNvPr>
          <p:cNvSpPr>
            <a:spLocks noGrp="1"/>
          </p:cNvSpPr>
          <p:nvPr>
            <p:ph idx="1"/>
          </p:nvPr>
        </p:nvSpPr>
        <p:spPr>
          <a:xfrm>
            <a:off x="612647" y="2212848"/>
            <a:ext cx="4361687" cy="4096512"/>
          </a:xfrm>
        </p:spPr>
        <p:txBody>
          <a:bodyPr>
            <a:normAutofit/>
          </a:bodyPr>
          <a:lstStyle/>
          <a:p>
            <a:r>
              <a:rPr lang="en-US" sz="2200" dirty="0">
                <a:latin typeface="Georgia" panose="02040502050405020303" pitchFamily="18" charset="0"/>
              </a:rPr>
              <a:t>Some Uses Cases </a:t>
            </a:r>
          </a:p>
          <a:p>
            <a:pPr lvl="1"/>
            <a:r>
              <a:rPr lang="en-US" sz="2200" dirty="0">
                <a:latin typeface="Georgia" panose="02040502050405020303" pitchFamily="18" charset="0"/>
              </a:rPr>
              <a:t>Enhanced Web Searching</a:t>
            </a:r>
          </a:p>
          <a:p>
            <a:pPr lvl="1"/>
            <a:r>
              <a:rPr lang="en-US" sz="2200" dirty="0">
                <a:latin typeface="Georgia" panose="02040502050405020303" pitchFamily="18" charset="0"/>
              </a:rPr>
              <a:t>Deep Research and Information Gathering</a:t>
            </a:r>
          </a:p>
          <a:p>
            <a:pPr lvl="1"/>
            <a:r>
              <a:rPr lang="en-US" sz="2200" dirty="0">
                <a:latin typeface="Georgia" panose="02040502050405020303" pitchFamily="18" charset="0"/>
              </a:rPr>
              <a:t>Market Research </a:t>
            </a:r>
          </a:p>
          <a:p>
            <a:pPr lvl="1"/>
            <a:r>
              <a:rPr lang="en-US" sz="2200" dirty="0">
                <a:latin typeface="Georgia" panose="02040502050405020303" pitchFamily="18" charset="0"/>
              </a:rPr>
              <a:t>Fact-Checking and Source Verification</a:t>
            </a:r>
          </a:p>
          <a:p>
            <a:pPr lvl="1"/>
            <a:r>
              <a:rPr lang="en-US" sz="2200" dirty="0">
                <a:latin typeface="Georgia" panose="02040502050405020303" pitchFamily="18" charset="0"/>
              </a:rPr>
              <a:t>Financial Analysis and Reporting</a:t>
            </a:r>
          </a:p>
        </p:txBody>
      </p:sp>
      <p:pic>
        <p:nvPicPr>
          <p:cNvPr id="7" name="Picture 6">
            <a:extLst>
              <a:ext uri="{FF2B5EF4-FFF2-40B4-BE49-F238E27FC236}">
                <a16:creationId xmlns:a16="http://schemas.microsoft.com/office/drawing/2014/main" id="{22560E11-C35B-ACE9-7EEF-061A3DA9410F}"/>
              </a:ext>
            </a:extLst>
          </p:cNvPr>
          <p:cNvPicPr>
            <a:picLocks noChangeAspect="1"/>
          </p:cNvPicPr>
          <p:nvPr/>
        </p:nvPicPr>
        <p:blipFill>
          <a:blip r:embed="rId2"/>
          <a:srcRect l="13199" r="13849" b="1"/>
          <a:stretch>
            <a:fillRect/>
          </a:stretch>
        </p:blipFill>
        <p:spPr>
          <a:xfrm>
            <a:off x="5818632" y="-1"/>
            <a:ext cx="6373368" cy="6858001"/>
          </a:xfrm>
          <a:prstGeom prst="rect">
            <a:avLst/>
          </a:prstGeom>
        </p:spPr>
      </p:pic>
    </p:spTree>
    <p:extLst>
      <p:ext uri="{BB962C8B-B14F-4D97-AF65-F5344CB8AC3E}">
        <p14:creationId xmlns:p14="http://schemas.microsoft.com/office/powerpoint/2010/main" val="3419439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3" name="Rectangle 9222">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9225" name="Rectangle 9224">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a:extLst>
              <a:ext uri="{FF2B5EF4-FFF2-40B4-BE49-F238E27FC236}">
                <a16:creationId xmlns:a16="http://schemas.microsoft.com/office/drawing/2014/main" id="{D3EB5FA9-6D9C-13F9-8FB9-86DF884504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21" b="1"/>
          <a:stretch>
            <a:fillRect/>
          </a:stretch>
        </p:blipFill>
        <p:spPr bwMode="auto">
          <a:xfrm>
            <a:off x="20" y="10"/>
            <a:ext cx="12191980" cy="6866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761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7" name="Rectangle 10246">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249" name="Rectangle 10248">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a:extLst>
              <a:ext uri="{FF2B5EF4-FFF2-40B4-BE49-F238E27FC236}">
                <a16:creationId xmlns:a16="http://schemas.microsoft.com/office/drawing/2014/main" id="{62031FC0-9E39-F88E-1F90-6D9E5633C9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21" b="1"/>
          <a:stretch>
            <a:fillRect/>
          </a:stretch>
        </p:blipFill>
        <p:spPr bwMode="auto">
          <a:xfrm>
            <a:off x="20" y="10"/>
            <a:ext cx="12191980" cy="6866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959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EF2E41-74B4-0708-33C3-68D0439558CC}"/>
              </a:ext>
            </a:extLst>
          </p:cNvPr>
          <p:cNvSpPr>
            <a:spLocks noGrp="1"/>
          </p:cNvSpPr>
          <p:nvPr>
            <p:ph type="title"/>
          </p:nvPr>
        </p:nvSpPr>
        <p:spPr>
          <a:xfrm>
            <a:off x="614677" y="603504"/>
            <a:ext cx="10872216" cy="1527048"/>
          </a:xfrm>
        </p:spPr>
        <p:txBody>
          <a:bodyPr anchor="b">
            <a:normAutofit/>
          </a:bodyPr>
          <a:lstStyle/>
          <a:p>
            <a:r>
              <a:rPr lang="en-US" b="1" dirty="0">
                <a:hlinkClick r:id="rId3"/>
              </a:rPr>
              <a:t>Scispace</a:t>
            </a:r>
            <a:r>
              <a:rPr lang="en-US" b="1" dirty="0"/>
              <a:t>: “Fastest Research Platform”</a:t>
            </a:r>
            <a:endParaRPr lang="en-US" dirty="0"/>
          </a:p>
        </p:txBody>
      </p:sp>
      <p:pic>
        <p:nvPicPr>
          <p:cNvPr id="4" name="Online Media 3" descr="Introducing: Deep Review by SciSpace">
            <a:hlinkClick r:id="" action="ppaction://media"/>
            <a:extLst>
              <a:ext uri="{FF2B5EF4-FFF2-40B4-BE49-F238E27FC236}">
                <a16:creationId xmlns:a16="http://schemas.microsoft.com/office/drawing/2014/main" id="{35AB6745-499F-8C87-E58F-88A2A7C0B03F}"/>
              </a:ext>
            </a:extLst>
          </p:cNvPr>
          <p:cNvPicPr>
            <a:picLocks noRot="1" noChangeAspect="1"/>
          </p:cNvPicPr>
          <p:nvPr>
            <a:videoFile r:link="rId1"/>
          </p:nvPr>
        </p:nvPicPr>
        <p:blipFill>
          <a:blip r:embed="rId4"/>
          <a:stretch>
            <a:fillRect/>
          </a:stretch>
        </p:blipFill>
        <p:spPr>
          <a:xfrm>
            <a:off x="614677" y="2854931"/>
            <a:ext cx="5640072" cy="3186640"/>
          </a:xfrm>
          <a:prstGeom prst="rect">
            <a:avLst/>
          </a:prstGeom>
        </p:spPr>
      </p:pic>
      <p:graphicFrame>
        <p:nvGraphicFramePr>
          <p:cNvPr id="21" name="Content Placeholder 2">
            <a:extLst>
              <a:ext uri="{FF2B5EF4-FFF2-40B4-BE49-F238E27FC236}">
                <a16:creationId xmlns:a16="http://schemas.microsoft.com/office/drawing/2014/main" id="{5BD91E0F-1868-168C-DAD7-4DA35D81F34B}"/>
              </a:ext>
            </a:extLst>
          </p:cNvPr>
          <p:cNvGraphicFramePr>
            <a:graphicFrameLocks noGrp="1"/>
          </p:cNvGraphicFramePr>
          <p:nvPr>
            <p:ph idx="1"/>
          </p:nvPr>
        </p:nvGraphicFramePr>
        <p:xfrm>
          <a:off x="6096000" y="2441273"/>
          <a:ext cx="5385816" cy="381794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7854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38E784-5ADA-59AC-A934-2D1D3C4D3F0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hlinkClick r:id="rId2"/>
              </a:rPr>
              <a:t>Scispace</a:t>
            </a:r>
            <a:r>
              <a:rPr lang="en-US" sz="2600" kern="1200">
                <a:solidFill>
                  <a:srgbClr val="FFFFFF"/>
                </a:solidFill>
                <a:latin typeface="+mj-lt"/>
                <a:ea typeface="+mj-ea"/>
                <a:cs typeface="+mj-cs"/>
              </a:rPr>
              <a:t>: “</a:t>
            </a:r>
            <a:r>
              <a:rPr lang="en-US" sz="2600" b="1" kern="1200">
                <a:solidFill>
                  <a:srgbClr val="FFFFFF"/>
                </a:solidFill>
                <a:latin typeface="+mj-lt"/>
                <a:ea typeface="+mj-ea"/>
                <a:cs typeface="+mj-cs"/>
              </a:rPr>
              <a:t>Fastest Research Platform Ever”</a:t>
            </a:r>
            <a:endParaRPr lang="en-US" sz="2600" kern="1200">
              <a:solidFill>
                <a:srgbClr val="FFFFFF"/>
              </a:solidFill>
              <a:latin typeface="+mj-lt"/>
              <a:ea typeface="+mj-ea"/>
              <a:cs typeface="+mj-cs"/>
            </a:endParaRPr>
          </a:p>
        </p:txBody>
      </p:sp>
      <p:pic>
        <p:nvPicPr>
          <p:cNvPr id="1026" name="Picture 2">
            <a:extLst>
              <a:ext uri="{FF2B5EF4-FFF2-40B4-BE49-F238E27FC236}">
                <a16:creationId xmlns:a16="http://schemas.microsoft.com/office/drawing/2014/main" id="{5A7B940A-5520-5AC7-973F-72A3EBDE42C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416236" y="199518"/>
            <a:ext cx="8496763" cy="5820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330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8D3A7-23E1-8832-C943-FD801D9AC2F9}"/>
              </a:ext>
            </a:extLst>
          </p:cNvPr>
          <p:cNvSpPr>
            <a:spLocks noGrp="1"/>
          </p:cNvSpPr>
          <p:nvPr>
            <p:ph type="title"/>
          </p:nvPr>
        </p:nvSpPr>
        <p:spPr/>
        <p:txBody>
          <a:bodyPr/>
          <a:lstStyle/>
          <a:p>
            <a:r>
              <a:rPr lang="en-US" b="1" dirty="0">
                <a:hlinkClick r:id="rId2"/>
              </a:rPr>
              <a:t>Using Scispace Deep Preview</a:t>
            </a:r>
            <a:endParaRPr lang="en-US" b="1" dirty="0"/>
          </a:p>
        </p:txBody>
      </p:sp>
      <p:sp>
        <p:nvSpPr>
          <p:cNvPr id="3" name="Content Placeholder 2">
            <a:extLst>
              <a:ext uri="{FF2B5EF4-FFF2-40B4-BE49-F238E27FC236}">
                <a16:creationId xmlns:a16="http://schemas.microsoft.com/office/drawing/2014/main" id="{A236D9C6-4CAC-BA70-A0F5-01B55D1E86CF}"/>
              </a:ext>
            </a:extLst>
          </p:cNvPr>
          <p:cNvSpPr>
            <a:spLocks noGrp="1"/>
          </p:cNvSpPr>
          <p:nvPr>
            <p:ph idx="1"/>
          </p:nvPr>
        </p:nvSpPr>
        <p:spPr/>
        <p:txBody>
          <a:bodyPr>
            <a:normAutofit fontScale="92500" lnSpcReduction="20000"/>
          </a:bodyPr>
          <a:lstStyle/>
          <a:p>
            <a:r>
              <a:rPr lang="en-US" dirty="0"/>
              <a:t>Below are suggestions by its developers </a:t>
            </a:r>
          </a:p>
          <a:p>
            <a:r>
              <a:rPr lang="en-US" dirty="0"/>
              <a:t>But important to have full control over research process 	</a:t>
            </a:r>
          </a:p>
          <a:p>
            <a:r>
              <a:rPr lang="en-US" dirty="0"/>
              <a:t>Best Use Cases</a:t>
            </a:r>
          </a:p>
          <a:p>
            <a:pPr lvl="1"/>
            <a:r>
              <a:rPr lang="en-US" dirty="0"/>
              <a:t>Conducting comprehensive literature review for thesis or dissertation.</a:t>
            </a:r>
          </a:p>
          <a:p>
            <a:pPr lvl="1"/>
            <a:r>
              <a:rPr lang="en-US" dirty="0"/>
              <a:t>Identifying emerging trends or research gaps in a field.</a:t>
            </a:r>
          </a:p>
          <a:p>
            <a:pPr lvl="1"/>
            <a:r>
              <a:rPr lang="en-US" dirty="0"/>
              <a:t>Quickly gathering multiple perspectives on a complex research question.</a:t>
            </a:r>
          </a:p>
          <a:p>
            <a:pPr lvl="1"/>
            <a:r>
              <a:rPr lang="en-US" dirty="0"/>
              <a:t>Preparing a foundation of background reading for a research proposal.</a:t>
            </a:r>
          </a:p>
          <a:p>
            <a:r>
              <a:rPr lang="en-US" dirty="0"/>
              <a:t>Best Practices</a:t>
            </a:r>
          </a:p>
          <a:p>
            <a:pPr lvl="1"/>
            <a:r>
              <a:rPr lang="en-US" dirty="0"/>
              <a:t>Start with a clear and focused research question.</a:t>
            </a:r>
          </a:p>
          <a:p>
            <a:pPr lvl="1"/>
            <a:r>
              <a:rPr lang="en-US" dirty="0"/>
              <a:t>Use follow-up queries with Copilot to clarify or go deeper.</a:t>
            </a:r>
          </a:p>
          <a:p>
            <a:pPr lvl="1"/>
            <a:r>
              <a:rPr lang="en-US" dirty="0"/>
              <a:t>Save important insights to your Notebook for quick reference.</a:t>
            </a:r>
          </a:p>
          <a:p>
            <a:pPr lvl="1"/>
            <a:r>
              <a:rPr lang="en-US" dirty="0"/>
              <a:t>Combine Deep Review with Chat with PDF and Literature Review for a full research workflow.</a:t>
            </a:r>
          </a:p>
          <a:p>
            <a:endParaRPr lang="en-US" dirty="0"/>
          </a:p>
        </p:txBody>
      </p:sp>
    </p:spTree>
    <p:extLst>
      <p:ext uri="{BB962C8B-B14F-4D97-AF65-F5344CB8AC3E}">
        <p14:creationId xmlns:p14="http://schemas.microsoft.com/office/powerpoint/2010/main" val="3856538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DE89A-B755-B812-3534-61087D6F486D}"/>
              </a:ext>
            </a:extLst>
          </p:cNvPr>
          <p:cNvSpPr>
            <a:spLocks noGrp="1"/>
          </p:cNvSpPr>
          <p:nvPr>
            <p:ph type="title"/>
          </p:nvPr>
        </p:nvSpPr>
        <p:spPr>
          <a:xfrm>
            <a:off x="147448" y="2074362"/>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rPr>
              <a:t>Deep Research Models in Comparison </a:t>
            </a:r>
          </a:p>
        </p:txBody>
      </p:sp>
      <p:pic>
        <p:nvPicPr>
          <p:cNvPr id="7170" name="Picture 2" descr="__wf_reserved_inherit">
            <a:extLst>
              <a:ext uri="{FF2B5EF4-FFF2-40B4-BE49-F238E27FC236}">
                <a16:creationId xmlns:a16="http://schemas.microsoft.com/office/drawing/2014/main" id="{1AAB39D0-B702-4F35-F8AD-1D8AF1A8ABB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985" t="17433" r="2383" b="4896"/>
          <a:stretch>
            <a:fillRect/>
          </a:stretch>
        </p:blipFill>
        <p:spPr bwMode="auto">
          <a:xfrm>
            <a:off x="3008242" y="442912"/>
            <a:ext cx="9183757" cy="56532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4964B78-09F3-46B0-5924-DC972C72667E}"/>
              </a:ext>
            </a:extLst>
          </p:cNvPr>
          <p:cNvSpPr txBox="1"/>
          <p:nvPr/>
        </p:nvSpPr>
        <p:spPr>
          <a:xfrm>
            <a:off x="2279374" y="6155633"/>
            <a:ext cx="1457739" cy="430887"/>
          </a:xfrm>
          <a:prstGeom prst="rect">
            <a:avLst/>
          </a:prstGeom>
          <a:noFill/>
        </p:spPr>
        <p:txBody>
          <a:bodyPr wrap="square" rtlCol="0">
            <a:spAutoFit/>
          </a:bodyPr>
          <a:lstStyle/>
          <a:p>
            <a:r>
              <a:rPr lang="en-US" sz="2200">
                <a:latin typeface="Georgia" panose="02040502050405020303" pitchFamily="18" charset="0"/>
                <a:hlinkClick r:id="rId3"/>
              </a:rPr>
              <a:t>Vina 2025 </a:t>
            </a:r>
            <a:endParaRPr lang="en-US" sz="2200" dirty="0">
              <a:latin typeface="Georgia" panose="02040502050405020303" pitchFamily="18" charset="0"/>
            </a:endParaRPr>
          </a:p>
        </p:txBody>
      </p:sp>
    </p:spTree>
    <p:extLst>
      <p:ext uri="{BB962C8B-B14F-4D97-AF65-F5344CB8AC3E}">
        <p14:creationId xmlns:p14="http://schemas.microsoft.com/office/powerpoint/2010/main" val="1207389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4B8143-3907-5396-F19C-4EDBFE8DE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768172-E7A8-0FDE-6AF9-04F5A9458664}"/>
              </a:ext>
            </a:extLst>
          </p:cNvPr>
          <p:cNvSpPr>
            <a:spLocks noGrp="1"/>
          </p:cNvSpPr>
          <p:nvPr>
            <p:ph type="title"/>
          </p:nvPr>
        </p:nvSpPr>
        <p:spPr>
          <a:xfrm>
            <a:off x="612648" y="603504"/>
            <a:ext cx="11019513" cy="1527048"/>
          </a:xfrm>
        </p:spPr>
        <p:txBody>
          <a:bodyPr anchor="b">
            <a:normAutofit/>
          </a:bodyPr>
          <a:lstStyle/>
          <a:p>
            <a:r>
              <a:rPr lang="en-US"/>
              <a:t>Important Considerations </a:t>
            </a:r>
            <a:endParaRPr lang="en-US" dirty="0"/>
          </a:p>
        </p:txBody>
      </p:sp>
      <p:sp>
        <p:nvSpPr>
          <p:cNvPr id="11" name="Content Placeholder 2">
            <a:extLst>
              <a:ext uri="{FF2B5EF4-FFF2-40B4-BE49-F238E27FC236}">
                <a16:creationId xmlns:a16="http://schemas.microsoft.com/office/drawing/2014/main" id="{AFA91674-E416-2597-91E7-DE20A86E502F}"/>
              </a:ext>
            </a:extLst>
          </p:cNvPr>
          <p:cNvSpPr>
            <a:spLocks noGrp="1"/>
          </p:cNvSpPr>
          <p:nvPr>
            <p:ph idx="1"/>
          </p:nvPr>
        </p:nvSpPr>
        <p:spPr>
          <a:xfrm>
            <a:off x="612648" y="2212848"/>
            <a:ext cx="11019514" cy="4096512"/>
          </a:xfrm>
        </p:spPr>
        <p:txBody>
          <a:bodyPr>
            <a:normAutofit/>
          </a:bodyPr>
          <a:lstStyle/>
          <a:p>
            <a:r>
              <a:rPr lang="en-US" dirty="0"/>
              <a:t>Transformer-based models, while powerful, can produce inaccurate or misleading content. References may be fabricated or incorrectly cited, and the generated text often combines ideas without logical coherence. These models may also create feedback loops that steer users in unproductive or misleading directions.</a:t>
            </a:r>
          </a:p>
          <a:p>
            <a:r>
              <a:rPr lang="en-US" dirty="0"/>
              <a:t>Critically, expert-level knowledge is essential to assess the validity and usefulness of their outputs. Users must evaluate whether any part of the generated content holds real value. While these models can act as capable assistants, their utility hinges on the user’s ability to maintain full control over the content they produce.</a:t>
            </a:r>
          </a:p>
        </p:txBody>
      </p:sp>
    </p:spTree>
    <p:extLst>
      <p:ext uri="{BB962C8B-B14F-4D97-AF65-F5344CB8AC3E}">
        <p14:creationId xmlns:p14="http://schemas.microsoft.com/office/powerpoint/2010/main" val="3412039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04B8143-3907-5396-F19C-4EDBFE8DE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09E1D1-41BA-CD41-0CA1-20C3BB6BB8F1}"/>
              </a:ext>
            </a:extLst>
          </p:cNvPr>
          <p:cNvSpPr>
            <a:spLocks noGrp="1"/>
          </p:cNvSpPr>
          <p:nvPr>
            <p:ph type="title"/>
          </p:nvPr>
        </p:nvSpPr>
        <p:spPr>
          <a:xfrm>
            <a:off x="612648" y="448056"/>
            <a:ext cx="11019513" cy="768096"/>
          </a:xfrm>
        </p:spPr>
        <p:txBody>
          <a:bodyPr anchor="b">
            <a:noAutofit/>
          </a:bodyPr>
          <a:lstStyle/>
          <a:p>
            <a:r>
              <a:rPr lang="en-US" sz="2400" b="1" dirty="0">
                <a:latin typeface="Georgia" panose="02040502050405020303" pitchFamily="18" charset="0"/>
              </a:rPr>
              <a:t>Hands-on with </a:t>
            </a:r>
            <a:r>
              <a:rPr lang="en-US" sz="2400" b="1" dirty="0">
                <a:latin typeface="Georgia" panose="02040502050405020303" pitchFamily="18" charset="0"/>
                <a:hlinkClick r:id="rId2"/>
              </a:rPr>
              <a:t>OpenAI’s Deep Research</a:t>
            </a:r>
            <a:r>
              <a:rPr lang="en-US" sz="2400" b="1" dirty="0">
                <a:latin typeface="Georgia" panose="02040502050405020303" pitchFamily="18" charset="0"/>
              </a:rPr>
              <a:t>: </a:t>
            </a:r>
            <a:r>
              <a:rPr lang="en-US" sz="2400" b="1" i="1" dirty="0">
                <a:latin typeface="Georgia" panose="02040502050405020303" pitchFamily="18" charset="0"/>
              </a:rPr>
              <a:t>Investigating the Impact of Climate Change on Crop Yields in Sub-Saharan Africa</a:t>
            </a:r>
          </a:p>
        </p:txBody>
      </p:sp>
      <p:sp>
        <p:nvSpPr>
          <p:cNvPr id="3" name="Content Placeholder 2">
            <a:extLst>
              <a:ext uri="{FF2B5EF4-FFF2-40B4-BE49-F238E27FC236}">
                <a16:creationId xmlns:a16="http://schemas.microsoft.com/office/drawing/2014/main" id="{7E739A28-69A4-C784-AE90-185C1868476D}"/>
              </a:ext>
            </a:extLst>
          </p:cNvPr>
          <p:cNvSpPr>
            <a:spLocks noGrp="1"/>
          </p:cNvSpPr>
          <p:nvPr>
            <p:ph idx="1"/>
          </p:nvPr>
        </p:nvSpPr>
        <p:spPr>
          <a:xfrm>
            <a:off x="612647" y="1380744"/>
            <a:ext cx="11168536" cy="4096512"/>
          </a:xfrm>
        </p:spPr>
        <p:txBody>
          <a:bodyPr>
            <a:noAutofit/>
          </a:bodyPr>
          <a:lstStyle/>
          <a:p>
            <a:r>
              <a:rPr lang="en-US" sz="1800" b="1" u="sng" dirty="0">
                <a:latin typeface="Georgia" panose="02040502050405020303" pitchFamily="18" charset="0"/>
              </a:rPr>
              <a:t>We will use the prompt below: </a:t>
            </a:r>
          </a:p>
          <a:p>
            <a:r>
              <a:rPr lang="en-US" sz="1800" i="1" dirty="0">
                <a:latin typeface="Georgia" panose="02040502050405020303" pitchFamily="18" charset="0"/>
              </a:rPr>
              <a:t>You are a scientific research assistant helping with an in-depth literature review. Your task is to investigate the relationship between climate change and agricultural crop yields in Sub-Saharan Africa. </a:t>
            </a:r>
          </a:p>
          <a:p>
            <a:r>
              <a:rPr lang="en-US" sz="1800" i="1" dirty="0">
                <a:latin typeface="Georgia" panose="02040502050405020303" pitchFamily="18" charset="0"/>
              </a:rPr>
              <a:t>Objective: Provide a comprehensive analysis answering the following questions:</a:t>
            </a:r>
          </a:p>
          <a:p>
            <a:pPr lvl="1"/>
            <a:r>
              <a:rPr lang="en-US" sz="1800" i="1" dirty="0">
                <a:latin typeface="Georgia" panose="02040502050405020303" pitchFamily="18" charset="0"/>
              </a:rPr>
              <a:t>What are the major climate variables (e.g., temperature, rainfall) affecting crop yields in this region?</a:t>
            </a:r>
          </a:p>
          <a:p>
            <a:pPr lvl="1"/>
            <a:r>
              <a:rPr lang="en-US" sz="1800" i="1" dirty="0">
                <a:latin typeface="Georgia" panose="02040502050405020303" pitchFamily="18" charset="0"/>
              </a:rPr>
              <a:t>Which crops (e.g., maize, millet, sorghum) are most impacted, and how?</a:t>
            </a:r>
          </a:p>
          <a:p>
            <a:pPr lvl="1"/>
            <a:r>
              <a:rPr lang="en-US" sz="1800" i="1" dirty="0">
                <a:latin typeface="Georgia" panose="02040502050405020303" pitchFamily="18" charset="0"/>
              </a:rPr>
              <a:t>What methodologies are typically used to assess this impact (e.g., empirical studies, crop simulation models, machine learning)?</a:t>
            </a:r>
          </a:p>
          <a:p>
            <a:pPr lvl="1"/>
            <a:r>
              <a:rPr lang="en-US" sz="1800" i="1" dirty="0">
                <a:latin typeface="Georgia" panose="02040502050405020303" pitchFamily="18" charset="0"/>
              </a:rPr>
              <a:t>What are the most cited studies in the past five years on this topic?</a:t>
            </a:r>
          </a:p>
          <a:p>
            <a:pPr lvl="1"/>
            <a:r>
              <a:rPr lang="en-US" sz="1800" i="1" dirty="0">
                <a:latin typeface="Georgia" panose="02040502050405020303" pitchFamily="18" charset="0"/>
              </a:rPr>
              <a:t>What adaptation strategies have been proposed and how effective are they?</a:t>
            </a:r>
          </a:p>
          <a:p>
            <a:r>
              <a:rPr lang="en-US" sz="1800" i="1" dirty="0">
                <a:latin typeface="Georgia" panose="02040502050405020303" pitchFamily="18" charset="0"/>
              </a:rPr>
              <a:t>Instructions:</a:t>
            </a:r>
          </a:p>
          <a:p>
            <a:pPr lvl="1"/>
            <a:r>
              <a:rPr lang="en-US" sz="1800" i="1" dirty="0">
                <a:latin typeface="Georgia" panose="02040502050405020303" pitchFamily="18" charset="0"/>
              </a:rPr>
              <a:t>Conduct deep literature review.</a:t>
            </a:r>
          </a:p>
          <a:p>
            <a:pPr lvl="1"/>
            <a:r>
              <a:rPr lang="en-US" sz="1800" i="1" dirty="0">
                <a:latin typeface="Georgia" panose="02040502050405020303" pitchFamily="18" charset="0"/>
              </a:rPr>
              <a:t>Synthesize key findings from multiple sources.</a:t>
            </a:r>
          </a:p>
          <a:p>
            <a:pPr lvl="1"/>
            <a:r>
              <a:rPr lang="en-US" sz="1800" i="1" dirty="0">
                <a:latin typeface="Georgia" panose="02040502050405020303" pitchFamily="18" charset="0"/>
              </a:rPr>
              <a:t>Present output in structured report with headers, bullet points, citations, and a brief conclusion.</a:t>
            </a:r>
          </a:p>
          <a:p>
            <a:pPr lvl="1"/>
            <a:r>
              <a:rPr lang="en-US" sz="1800" i="1" dirty="0">
                <a:latin typeface="Georgia" panose="02040502050405020303" pitchFamily="18" charset="0"/>
              </a:rPr>
              <a:t>Clearly separate evidence-based findings from commentary or interpretation.</a:t>
            </a:r>
          </a:p>
          <a:p>
            <a:pPr lvl="1"/>
            <a:r>
              <a:rPr lang="en-US" sz="1800" i="1" dirty="0">
                <a:latin typeface="Georgia" panose="02040502050405020303" pitchFamily="18" charset="0"/>
              </a:rPr>
              <a:t>Ensure scientific tone and accuracy.</a:t>
            </a:r>
          </a:p>
        </p:txBody>
      </p:sp>
    </p:spTree>
    <p:extLst>
      <p:ext uri="{BB962C8B-B14F-4D97-AF65-F5344CB8AC3E}">
        <p14:creationId xmlns:p14="http://schemas.microsoft.com/office/powerpoint/2010/main" val="1734570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471</TotalTime>
  <Words>708</Words>
  <Application>Microsoft Macintosh PowerPoint</Application>
  <PresentationFormat>Widescreen</PresentationFormat>
  <Paragraphs>87</Paragraphs>
  <Slides>18</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Georgia</vt:lpstr>
      <vt:lpstr>Office Theme</vt:lpstr>
      <vt:lpstr>AI Deep Research Models</vt:lpstr>
      <vt:lpstr>What is AI Deep Research?  </vt:lpstr>
      <vt:lpstr>Capabilities of Deep Research Models </vt:lpstr>
      <vt:lpstr>AI Tools for Deep Research</vt:lpstr>
      <vt:lpstr>OpenAI’s Deep Research</vt:lpstr>
      <vt:lpstr>Open AI Deep Research Performance: HLE</vt:lpstr>
      <vt:lpstr>Open AI Deep Research Performance: GAIA </vt:lpstr>
      <vt:lpstr>Google’s Gemini Deep Research Model</vt:lpstr>
      <vt:lpstr>This Video Show Step-By-Step Process of Using Gemini Deep Research Model</vt:lpstr>
      <vt:lpstr>Perplexity’s Deep Research Model</vt:lpstr>
      <vt:lpstr>PowerPoint Presentation</vt:lpstr>
      <vt:lpstr>PowerPoint Presentation</vt:lpstr>
      <vt:lpstr>Scispace: “Fastest Research Platform”</vt:lpstr>
      <vt:lpstr>Scispace: “Fastest Research Platform Ever”</vt:lpstr>
      <vt:lpstr>Using Scispace Deep Preview</vt:lpstr>
      <vt:lpstr>Deep Research Models in Comparison </vt:lpstr>
      <vt:lpstr>Important Considerations </vt:lpstr>
      <vt:lpstr>Hands-on with OpenAI’s Deep Research: Investigating the Impact of Climate Change on Crop Yields in Sub-Saharan Africa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Namig Abbasov</dc:creator>
  <cp:lastModifiedBy>Namig Abbasov</cp:lastModifiedBy>
  <cp:revision>13</cp:revision>
  <dcterms:created xsi:type="dcterms:W3CDTF">2025-06-16T22:31:19Z</dcterms:created>
  <dcterms:modified xsi:type="dcterms:W3CDTF">2025-06-17T21:06:50Z</dcterms:modified>
</cp:coreProperties>
</file>